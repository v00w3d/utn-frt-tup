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88950"/>
  <p:notesSz cx="6858000" cy="9144000"/>
  <p:embeddedFontLst>
    <p:embeddedFont>
      <p:font typeface="Comfortaa"/>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Comfortaa-bold.fntdata"/><Relationship Id="rId6" Type="http://schemas.openxmlformats.org/officeDocument/2006/relationships/slide" Target="slides/slide1.xml"/><Relationship Id="rId18" Type="http://schemas.openxmlformats.org/officeDocument/2006/relationships/font" Target="fonts/Comfortaa-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Apertura: 1-2 preguntas para la audiencia: ¿Qué se espera de una reforma constitucional? ¿Qué pasa si no se cumple?</a:t>
            </a:r>
            <a:endParaRPr/>
          </a:p>
        </p:txBody>
      </p:sp>
      <p:sp>
        <p:nvSpPr>
          <p:cNvPr id="89" name="Google Shape;89;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P1 (Intro / Usuario): explicar el artículo y por qué la norma manda al Congreso a legislar.</a:t>
            </a:r>
            <a:endParaRPr/>
          </a:p>
        </p:txBody>
      </p:sp>
      <p:sp>
        <p:nvSpPr>
          <p:cNvPr id="96" name="Google Shape;96;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7a974712de_0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g37a974712de_0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P1 (Intro / Usuario): explicar el artículo y por qué la norma manda al Congreso a legislar.</a:t>
            </a:r>
            <a:endParaRPr/>
          </a:p>
        </p:txBody>
      </p:sp>
      <p:sp>
        <p:nvSpPr>
          <p:cNvPr id="103" name="Google Shape;103;g37a974712de_0_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7a974712de_0_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g37a974712de_0_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P1 (Intro / Usuario): explicar el artículo y por qué la norma manda al Congreso a legislar.</a:t>
            </a:r>
            <a:endParaRPr/>
          </a:p>
        </p:txBody>
      </p:sp>
      <p:sp>
        <p:nvSpPr>
          <p:cNvPr id="110" name="Google Shape;110;g37a974712de_0_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7a974712de_0_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g37a974712de_0_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P1 (Intro / Usuario): explicar el artículo y por qué la norma manda al Congreso a legislar.</a:t>
            </a:r>
            <a:endParaRPr/>
          </a:p>
        </p:txBody>
      </p:sp>
      <p:sp>
        <p:nvSpPr>
          <p:cNvPr id="117" name="Google Shape;117;g37a974712de_0_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7a974712de_0_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g37a974712de_0_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P1 (Intro / Usuario): explicar el artículo y por qué la norma manda al Congreso a legislar.</a:t>
            </a:r>
            <a:endParaRPr/>
          </a:p>
        </p:txBody>
      </p:sp>
      <p:sp>
        <p:nvSpPr>
          <p:cNvPr id="124" name="Google Shape;124;g37a974712de_0_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7a974712de_0_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g37a974712de_0_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P1 (Intro / Usuario): explicar el artículo y por qué la norma manda al Congreso a legislar.</a:t>
            </a:r>
            <a:endParaRPr/>
          </a:p>
        </p:txBody>
      </p:sp>
      <p:sp>
        <p:nvSpPr>
          <p:cNvPr id="131" name="Google Shape;131;g37a974712de_0_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7a974712de_0_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g37a974712de_0_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P1 (Intro / Usuario): explicar el artículo y por qué la norma manda al Congreso a legislar.</a:t>
            </a:r>
            <a:endParaRPr/>
          </a:p>
        </p:txBody>
      </p:sp>
      <p:sp>
        <p:nvSpPr>
          <p:cNvPr id="138" name="Google Shape;138;g37a974712de_0_5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7a974712de_0_5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g37a974712de_0_5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P1 (Intro / Usuario): explicar el artículo y por qué la norma manda al Congreso a legislar.</a:t>
            </a:r>
            <a:endParaRPr/>
          </a:p>
        </p:txBody>
      </p:sp>
      <p:sp>
        <p:nvSpPr>
          <p:cNvPr id="145" name="Google Shape;145;g37a974712de_0_5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7a974712de_0_6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g37a974712de_0_6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P1 (Intro / Usuario): explicar el artículo y por qué la norma manda al Congreso a legislar.</a:t>
            </a:r>
            <a:endParaRPr/>
          </a:p>
        </p:txBody>
      </p:sp>
      <p:sp>
        <p:nvSpPr>
          <p:cNvPr id="152" name="Google Shape;152;g37a974712de_0_6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la exposición mostrar 2–3 URLs o capturas para que la audiencia pueda consultar.</a:t>
            </a:r>
            <a:endParaRPr/>
          </a:p>
        </p:txBody>
      </p:sp>
      <p:sp>
        <p:nvSpPr>
          <p:cNvPr id="159" name="Google Shape;159;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24242"/>
            </a:gs>
            <a:gs pos="100000">
              <a:srgbClr val="010101"/>
            </a:gs>
          </a:gsLst>
          <a:path path="circle">
            <a:fillToRect b="50%" l="50%" r="50%" t="50%"/>
          </a:path>
          <a:tileRect/>
        </a:gradFill>
      </p:bgPr>
    </p:bg>
    <p:spTree>
      <p:nvGrpSpPr>
        <p:cNvPr id="83" name="Shape 83"/>
        <p:cNvGrpSpPr/>
        <p:nvPr/>
      </p:nvGrpSpPr>
      <p:grpSpPr>
        <a:xfrm>
          <a:off x="0" y="0"/>
          <a:ext cx="0" cy="0"/>
          <a:chOff x="0" y="0"/>
          <a:chExt cx="0" cy="0"/>
        </a:xfrm>
      </p:grpSpPr>
      <p:sp>
        <p:nvSpPr>
          <p:cNvPr id="84" name="Google Shape;84;p13"/>
          <p:cNvSpPr txBox="1"/>
          <p:nvPr>
            <p:ph type="ctrTitle"/>
          </p:nvPr>
        </p:nvSpPr>
        <p:spPr>
          <a:xfrm>
            <a:off x="100" y="387500"/>
            <a:ext cx="12189000" cy="1470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sz="4400">
                <a:solidFill>
                  <a:schemeClr val="accent6"/>
                </a:solidFill>
                <a:latin typeface="Comfortaa"/>
                <a:ea typeface="Comfortaa"/>
                <a:cs typeface="Comfortaa"/>
                <a:sym typeface="Comfortaa"/>
              </a:rPr>
              <a:t>TPN</a:t>
            </a:r>
            <a:r>
              <a:rPr b="1" lang="en-US">
                <a:solidFill>
                  <a:schemeClr val="accent6"/>
                </a:solidFill>
                <a:latin typeface="Comfortaa"/>
                <a:ea typeface="Comfortaa"/>
                <a:cs typeface="Comfortaa"/>
                <a:sym typeface="Comfortaa"/>
              </a:rPr>
              <a:t>2</a:t>
            </a:r>
            <a:endParaRPr b="1">
              <a:solidFill>
                <a:schemeClr val="accent6"/>
              </a:solidFill>
              <a:latin typeface="Comfortaa"/>
              <a:ea typeface="Comfortaa"/>
              <a:cs typeface="Comfortaa"/>
              <a:sym typeface="Comfortaa"/>
            </a:endParaRPr>
          </a:p>
          <a:p>
            <a:pPr indent="0" lvl="0" marL="0" rtl="0" algn="ctr">
              <a:spcBef>
                <a:spcPts val="0"/>
              </a:spcBef>
              <a:spcAft>
                <a:spcPts val="0"/>
              </a:spcAft>
              <a:buClr>
                <a:schemeClr val="dk1"/>
              </a:buClr>
              <a:buSzPct val="100000"/>
              <a:buFont typeface="Calibri"/>
              <a:buNone/>
            </a:pPr>
            <a:r>
              <a:rPr b="1" lang="en-US" sz="4400">
                <a:solidFill>
                  <a:schemeClr val="accent6"/>
                </a:solidFill>
                <a:latin typeface="Comfortaa"/>
                <a:ea typeface="Comfortaa"/>
                <a:cs typeface="Comfortaa"/>
                <a:sym typeface="Comfortaa"/>
              </a:rPr>
              <a:t>Reformas no implementadas </a:t>
            </a:r>
            <a:endParaRPr b="1" sz="4400">
              <a:solidFill>
                <a:schemeClr val="accent6"/>
              </a:solidFill>
              <a:latin typeface="Comfortaa"/>
              <a:ea typeface="Comfortaa"/>
              <a:cs typeface="Comfortaa"/>
              <a:sym typeface="Comfortaa"/>
            </a:endParaRPr>
          </a:p>
          <a:p>
            <a:pPr indent="0" lvl="0" marL="0" rtl="0" algn="ctr">
              <a:spcBef>
                <a:spcPts val="0"/>
              </a:spcBef>
              <a:spcAft>
                <a:spcPts val="0"/>
              </a:spcAft>
              <a:buClr>
                <a:schemeClr val="dk1"/>
              </a:buClr>
              <a:buSzPct val="100000"/>
              <a:buFont typeface="Calibri"/>
              <a:buNone/>
            </a:pPr>
            <a:r>
              <a:rPr b="1" lang="en-US" sz="4400">
                <a:solidFill>
                  <a:schemeClr val="accent6"/>
                </a:solidFill>
                <a:latin typeface="Comfortaa"/>
                <a:ea typeface="Comfortaa"/>
                <a:cs typeface="Comfortaa"/>
                <a:sym typeface="Comfortaa"/>
              </a:rPr>
              <a:t>(Reforma Constitucional 1994)</a:t>
            </a:r>
            <a:endParaRPr b="1">
              <a:solidFill>
                <a:schemeClr val="accent6"/>
              </a:solidFill>
              <a:latin typeface="Comfortaa"/>
              <a:ea typeface="Comfortaa"/>
              <a:cs typeface="Comfortaa"/>
              <a:sym typeface="Comfortaa"/>
            </a:endParaRPr>
          </a:p>
        </p:txBody>
      </p:sp>
      <p:sp>
        <p:nvSpPr>
          <p:cNvPr id="85" name="Google Shape;85;p13"/>
          <p:cNvSpPr txBox="1"/>
          <p:nvPr>
            <p:ph idx="1" type="subTitle"/>
          </p:nvPr>
        </p:nvSpPr>
        <p:spPr>
          <a:xfrm>
            <a:off x="50" y="2318150"/>
            <a:ext cx="12189000" cy="45399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rPr b="1" lang="en-US">
                <a:solidFill>
                  <a:srgbClr val="9900FF"/>
                </a:solidFill>
                <a:latin typeface="Comfortaa"/>
                <a:ea typeface="Comfortaa"/>
                <a:cs typeface="Comfortaa"/>
                <a:sym typeface="Comfortaa"/>
              </a:rPr>
              <a:t>"El juicio por jurados y otras deudas constitucionales"</a:t>
            </a:r>
            <a:endParaRPr b="1">
              <a:solidFill>
                <a:srgbClr val="9900FF"/>
              </a:solidFill>
              <a:latin typeface="Comfortaa"/>
              <a:ea typeface="Comfortaa"/>
              <a:cs typeface="Comfortaa"/>
              <a:sym typeface="Comfortaa"/>
            </a:endParaRPr>
          </a:p>
          <a:p>
            <a:pPr indent="0" lvl="0" marL="0" rtl="0" algn="ctr">
              <a:spcBef>
                <a:spcPts val="640"/>
              </a:spcBef>
              <a:spcAft>
                <a:spcPts val="0"/>
              </a:spcAft>
              <a:buClr>
                <a:srgbClr val="888888"/>
              </a:buClr>
              <a:buSzPts val="3200"/>
              <a:buNone/>
            </a:pPr>
            <a:r>
              <a:rPr b="1" lang="en-US">
                <a:solidFill>
                  <a:srgbClr val="FFFFFF"/>
                </a:solidFill>
                <a:latin typeface="Comfortaa"/>
                <a:ea typeface="Comfortaa"/>
                <a:cs typeface="Comfortaa"/>
                <a:sym typeface="Comfortaa"/>
              </a:rPr>
              <a:t>Fecha: </a:t>
            </a:r>
            <a:r>
              <a:rPr b="1" lang="en-US">
                <a:solidFill>
                  <a:srgbClr val="FFFFFF"/>
                </a:solidFill>
                <a:latin typeface="Comfortaa"/>
                <a:ea typeface="Comfortaa"/>
                <a:cs typeface="Comfortaa"/>
                <a:sym typeface="Comfortaa"/>
              </a:rPr>
              <a:t>03/09/2025</a:t>
            </a:r>
            <a:endParaRPr b="1">
              <a:solidFill>
                <a:srgbClr val="FFFFFF"/>
              </a:solidFill>
              <a:latin typeface="Comfortaa"/>
              <a:ea typeface="Comfortaa"/>
              <a:cs typeface="Comfortaa"/>
              <a:sym typeface="Comfortaa"/>
            </a:endParaRPr>
          </a:p>
          <a:p>
            <a:pPr indent="0" lvl="0" marL="0" rtl="0" algn="ctr">
              <a:spcBef>
                <a:spcPts val="640"/>
              </a:spcBef>
              <a:spcAft>
                <a:spcPts val="0"/>
              </a:spcAft>
              <a:buClr>
                <a:srgbClr val="888888"/>
              </a:buClr>
              <a:buSzPts val="3200"/>
              <a:buNone/>
            </a:pPr>
            <a:r>
              <a:rPr lang="en-US">
                <a:solidFill>
                  <a:srgbClr val="00FF00"/>
                </a:solidFill>
                <a:latin typeface="Comfortaa"/>
                <a:ea typeface="Comfortaa"/>
                <a:cs typeface="Comfortaa"/>
                <a:sym typeface="Comfortaa"/>
              </a:rPr>
              <a:t>Presenta: </a:t>
            </a:r>
            <a:endParaRPr>
              <a:solidFill>
                <a:srgbClr val="00FF00"/>
              </a:solidFill>
              <a:latin typeface="Comfortaa"/>
              <a:ea typeface="Comfortaa"/>
              <a:cs typeface="Comfortaa"/>
              <a:sym typeface="Comfortaa"/>
            </a:endParaRPr>
          </a:p>
          <a:p>
            <a:pPr indent="-431800" lvl="0" marL="914400" rtl="0" algn="l">
              <a:spcBef>
                <a:spcPts val="640"/>
              </a:spcBef>
              <a:spcAft>
                <a:spcPts val="0"/>
              </a:spcAft>
              <a:buClr>
                <a:srgbClr val="FFFFFF"/>
              </a:buClr>
              <a:buSzPts val="3200"/>
              <a:buFont typeface="Comfortaa"/>
              <a:buChar char="●"/>
            </a:pPr>
            <a:r>
              <a:rPr b="1" lang="en-US">
                <a:solidFill>
                  <a:srgbClr val="FFFFFF"/>
                </a:solidFill>
                <a:latin typeface="Comfortaa"/>
                <a:ea typeface="Comfortaa"/>
                <a:cs typeface="Comfortaa"/>
                <a:sym typeface="Comfortaa"/>
              </a:rPr>
              <a:t>Diaz Rossini Juán José</a:t>
            </a:r>
            <a:endParaRPr b="1">
              <a:solidFill>
                <a:srgbClr val="FFFFFF"/>
              </a:solidFill>
              <a:latin typeface="Comfortaa"/>
              <a:ea typeface="Comfortaa"/>
              <a:cs typeface="Comfortaa"/>
              <a:sym typeface="Comfortaa"/>
            </a:endParaRPr>
          </a:p>
          <a:p>
            <a:pPr indent="-431800" lvl="0" marL="914400" rtl="0" algn="l">
              <a:spcBef>
                <a:spcPts val="0"/>
              </a:spcBef>
              <a:spcAft>
                <a:spcPts val="0"/>
              </a:spcAft>
              <a:buClr>
                <a:srgbClr val="FFFFFF"/>
              </a:buClr>
              <a:buSzPts val="3200"/>
              <a:buFont typeface="Comfortaa"/>
              <a:buChar char="●"/>
            </a:pPr>
            <a:r>
              <a:rPr b="1" lang="en-US">
                <a:solidFill>
                  <a:srgbClr val="FFFFFF"/>
                </a:solidFill>
                <a:latin typeface="Comfortaa"/>
                <a:ea typeface="Comfortaa"/>
                <a:cs typeface="Comfortaa"/>
                <a:sym typeface="Comfortaa"/>
              </a:rPr>
              <a:t>Gallo Genaro</a:t>
            </a:r>
            <a:endParaRPr b="1">
              <a:solidFill>
                <a:srgbClr val="FFFFFF"/>
              </a:solidFill>
              <a:latin typeface="Comfortaa"/>
              <a:ea typeface="Comfortaa"/>
              <a:cs typeface="Comfortaa"/>
              <a:sym typeface="Comfortaa"/>
            </a:endParaRPr>
          </a:p>
          <a:p>
            <a:pPr indent="-431800" lvl="0" marL="914400" rtl="0" algn="l">
              <a:spcBef>
                <a:spcPts val="0"/>
              </a:spcBef>
              <a:spcAft>
                <a:spcPts val="0"/>
              </a:spcAft>
              <a:buClr>
                <a:srgbClr val="FFFFFF"/>
              </a:buClr>
              <a:buSzPts val="3200"/>
              <a:buFont typeface="Comfortaa"/>
              <a:buChar char="●"/>
            </a:pPr>
            <a:r>
              <a:rPr b="1" lang="en-US">
                <a:solidFill>
                  <a:srgbClr val="FFFFFF"/>
                </a:solidFill>
                <a:latin typeface="Comfortaa"/>
                <a:ea typeface="Comfortaa"/>
                <a:cs typeface="Comfortaa"/>
                <a:sym typeface="Comfortaa"/>
              </a:rPr>
              <a:t>Liacoplo Gerónimo Emiliano</a:t>
            </a:r>
            <a:endParaRPr b="1">
              <a:solidFill>
                <a:srgbClr val="FFFFFF"/>
              </a:solidFill>
              <a:latin typeface="Comfortaa"/>
              <a:ea typeface="Comfortaa"/>
              <a:cs typeface="Comfortaa"/>
              <a:sym typeface="Comfortaa"/>
            </a:endParaRPr>
          </a:p>
          <a:p>
            <a:pPr indent="-431800" lvl="0" marL="914400" rtl="0" algn="l">
              <a:spcBef>
                <a:spcPts val="0"/>
              </a:spcBef>
              <a:spcAft>
                <a:spcPts val="0"/>
              </a:spcAft>
              <a:buClr>
                <a:srgbClr val="FFFFFF"/>
              </a:buClr>
              <a:buSzPts val="3200"/>
              <a:buFont typeface="Comfortaa"/>
              <a:buChar char="●"/>
            </a:pPr>
            <a:r>
              <a:rPr b="1" lang="en-US">
                <a:solidFill>
                  <a:srgbClr val="FFFFFF"/>
                </a:solidFill>
                <a:latin typeface="Comfortaa"/>
                <a:ea typeface="Comfortaa"/>
                <a:cs typeface="Comfortaa"/>
                <a:sym typeface="Comfortaa"/>
              </a:rPr>
              <a:t>Navarro Victor Leandro</a:t>
            </a:r>
            <a:endParaRPr b="1">
              <a:solidFill>
                <a:srgbClr val="FFFFFF"/>
              </a:solidFill>
              <a:latin typeface="Comfortaa"/>
              <a:ea typeface="Comfortaa"/>
              <a:cs typeface="Comfortaa"/>
              <a:sym typeface="Comforta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24242"/>
            </a:gs>
            <a:gs pos="100000">
              <a:srgbClr val="010101"/>
            </a:gs>
          </a:gsLst>
          <a:path path="circle">
            <a:fillToRect b="50%" l="50%" r="50%" t="50%"/>
          </a:path>
          <a:tileRect/>
        </a:gradFill>
      </p:bgPr>
    </p:bg>
    <p:spTree>
      <p:nvGrpSpPr>
        <p:cNvPr id="90" name="Shape 90"/>
        <p:cNvGrpSpPr/>
        <p:nvPr/>
      </p:nvGrpSpPr>
      <p:grpSpPr>
        <a:xfrm>
          <a:off x="0" y="0"/>
          <a:ext cx="0" cy="0"/>
          <a:chOff x="0" y="0"/>
          <a:chExt cx="0" cy="0"/>
        </a:xfrm>
      </p:grpSpPr>
      <p:sp>
        <p:nvSpPr>
          <p:cNvPr id="91" name="Google Shape;91;p14"/>
          <p:cNvSpPr txBox="1"/>
          <p:nvPr>
            <p:ph type="title"/>
          </p:nvPr>
        </p:nvSpPr>
        <p:spPr>
          <a:xfrm>
            <a:off x="0" y="265625"/>
            <a:ext cx="121890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solidFill>
                  <a:srgbClr val="9900FF"/>
                </a:solidFill>
              </a:rPr>
              <a:t>“</a:t>
            </a:r>
            <a:r>
              <a:rPr b="1" lang="en-US" sz="4400">
                <a:solidFill>
                  <a:srgbClr val="9900FF"/>
                </a:solidFill>
              </a:rPr>
              <a:t>Introducción breve</a:t>
            </a:r>
            <a:r>
              <a:rPr b="1" lang="en-US">
                <a:solidFill>
                  <a:srgbClr val="9900FF"/>
                </a:solidFill>
              </a:rPr>
              <a:t>”</a:t>
            </a:r>
            <a:endParaRPr b="1">
              <a:solidFill>
                <a:srgbClr val="9900FF"/>
              </a:solidFill>
            </a:endParaRPr>
          </a:p>
        </p:txBody>
      </p:sp>
      <p:sp>
        <p:nvSpPr>
          <p:cNvPr id="92" name="Google Shape;92;p14"/>
          <p:cNvSpPr txBox="1"/>
          <p:nvPr>
            <p:ph idx="1" type="body"/>
          </p:nvPr>
        </p:nvSpPr>
        <p:spPr>
          <a:xfrm>
            <a:off x="0" y="1408625"/>
            <a:ext cx="12189000" cy="5449500"/>
          </a:xfrm>
          <a:prstGeom prst="rect">
            <a:avLst/>
          </a:prstGeom>
          <a:noFill/>
          <a:ln>
            <a:noFill/>
          </a:ln>
        </p:spPr>
        <p:txBody>
          <a:bodyPr anchorCtr="0" anchor="t" bIns="45700" lIns="91425" spcFirstLastPara="1" rIns="91425" wrap="square" tIns="45700">
            <a:normAutofit/>
          </a:bodyPr>
          <a:lstStyle/>
          <a:p>
            <a:pPr indent="-355600" lvl="0" marL="457200" rtl="0" algn="l">
              <a:lnSpc>
                <a:spcPct val="115000"/>
              </a:lnSpc>
              <a:spcBef>
                <a:spcPts val="0"/>
              </a:spcBef>
              <a:spcAft>
                <a:spcPts val="0"/>
              </a:spcAft>
              <a:buClr>
                <a:srgbClr val="FFFFFF"/>
              </a:buClr>
              <a:buSzPts val="2000"/>
              <a:buFont typeface="Comfortaa"/>
              <a:buChar char="-"/>
            </a:pPr>
            <a:r>
              <a:rPr lang="en-US" sz="2000">
                <a:solidFill>
                  <a:srgbClr val="FFFFFF"/>
                </a:solidFill>
                <a:latin typeface="Comfortaa"/>
                <a:ea typeface="Comfortaa"/>
                <a:cs typeface="Comfortaa"/>
                <a:sym typeface="Comfortaa"/>
              </a:rPr>
              <a:t>Recordamos la reforma constitucional de 1994 por su impacto en la historia argentina. Se decretaron nuevas leyes, se reformaron artículos y se incorporaron nuevos derechos, pero hubo otras reformas que, aunque fueron discutidas y aprobadas en la Asamblea Constituyente, nunca llegaron a implementarse completamente. En este trabajo abordamos esas “deudas constitucionales” para entender su contexto histórico, su importancia, las razones de su no implementación y su situación actual.</a:t>
            </a:r>
            <a:endParaRPr sz="2000">
              <a:solidFill>
                <a:srgbClr val="FFFFFF"/>
              </a:solidFill>
              <a:latin typeface="Comfortaa"/>
              <a:ea typeface="Comfortaa"/>
              <a:cs typeface="Comfortaa"/>
              <a:sym typeface="Comfortaa"/>
            </a:endParaRPr>
          </a:p>
          <a:p>
            <a:pPr indent="0" lvl="0" marL="0" rtl="0" algn="l">
              <a:lnSpc>
                <a:spcPct val="115000"/>
              </a:lnSpc>
              <a:spcBef>
                <a:spcPts val="1000"/>
              </a:spcBef>
              <a:spcAft>
                <a:spcPts val="0"/>
              </a:spcAft>
              <a:buNone/>
            </a:pPr>
            <a:r>
              <a:rPr lang="en-US" sz="2000">
                <a:solidFill>
                  <a:srgbClr val="FFFFFF"/>
                </a:solidFill>
                <a:latin typeface="Comfortaa"/>
                <a:ea typeface="Comfortaa"/>
                <a:cs typeface="Comfortaa"/>
                <a:sym typeface="Comfortaa"/>
              </a:rPr>
              <a:t>=============================================================================================</a:t>
            </a:r>
            <a:endParaRPr sz="2000">
              <a:solidFill>
                <a:srgbClr val="FFFFFF"/>
              </a:solidFill>
              <a:latin typeface="Comfortaa"/>
              <a:ea typeface="Comfortaa"/>
              <a:cs typeface="Comfortaa"/>
              <a:sym typeface="Comfortaa"/>
            </a:endParaRPr>
          </a:p>
          <a:p>
            <a:pPr indent="-355600" lvl="0" marL="457200" rtl="0" algn="l">
              <a:lnSpc>
                <a:spcPct val="115000"/>
              </a:lnSpc>
              <a:spcBef>
                <a:spcPts val="1000"/>
              </a:spcBef>
              <a:spcAft>
                <a:spcPts val="0"/>
              </a:spcAft>
              <a:buClr>
                <a:srgbClr val="FFFFFF"/>
              </a:buClr>
              <a:buSzPts val="2000"/>
              <a:buFont typeface="Comfortaa"/>
              <a:buChar char="-"/>
            </a:pPr>
            <a:r>
              <a:rPr lang="en-US" sz="2000">
                <a:solidFill>
                  <a:srgbClr val="FFFFFF"/>
                </a:solidFill>
                <a:latin typeface="Comfortaa"/>
                <a:ea typeface="Comfortaa"/>
                <a:cs typeface="Comfortaa"/>
                <a:sym typeface="Comfortaa"/>
              </a:rPr>
              <a:t>La reforma de 1994 surgió en un contexto de transición democrática y de acuerdos políticos clave, especialmente el Pacto de Olivos entre el presidente Carlos Menem y el expresidente Raúl Alfonsín. Con la Ley 24.309 se abrió el camino para modificar la Constitución de 1853. Si bien muchas reformas se concretaron y hoy son parte de nuestra vida política, hubo otras que, pese a estar en el texto constitucional, quedaron sin reglamentar o sin ejecutar.</a:t>
            </a:r>
            <a:endParaRPr sz="2000">
              <a:solidFill>
                <a:srgbClr val="FFFFFF"/>
              </a:solidFill>
              <a:latin typeface="Comfortaa"/>
              <a:ea typeface="Comfortaa"/>
              <a:cs typeface="Comfortaa"/>
              <a:sym typeface="Comforta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24242"/>
            </a:gs>
            <a:gs pos="100000">
              <a:srgbClr val="010101"/>
            </a:gs>
          </a:gsLst>
          <a:path path="circle">
            <a:fillToRect b="50%" l="50%" r="50%" t="50%"/>
          </a:path>
          <a:tileRect/>
        </a:gradFill>
      </p:bgPr>
    </p:bg>
    <p:spTree>
      <p:nvGrpSpPr>
        <p:cNvPr id="97" name="Shape 97"/>
        <p:cNvGrpSpPr/>
        <p:nvPr/>
      </p:nvGrpSpPr>
      <p:grpSpPr>
        <a:xfrm>
          <a:off x="0" y="0"/>
          <a:ext cx="0" cy="0"/>
          <a:chOff x="0" y="0"/>
          <a:chExt cx="0" cy="0"/>
        </a:xfrm>
      </p:grpSpPr>
      <p:sp>
        <p:nvSpPr>
          <p:cNvPr id="98" name="Google Shape;98;p15"/>
          <p:cNvSpPr txBox="1"/>
          <p:nvPr>
            <p:ph type="title"/>
          </p:nvPr>
        </p:nvSpPr>
        <p:spPr>
          <a:xfrm>
            <a:off x="0" y="274650"/>
            <a:ext cx="12189000" cy="1143000"/>
          </a:xfrm>
          <a:prstGeom prst="rect">
            <a:avLst/>
          </a:prstGeom>
          <a:noFill/>
          <a:ln>
            <a:noFill/>
          </a:ln>
        </p:spPr>
        <p:txBody>
          <a:bodyPr anchorCtr="0" anchor="ctr" bIns="45700" lIns="91425" spcFirstLastPara="1" rIns="91425" wrap="square" tIns="45700">
            <a:normAutofit fontScale="90000"/>
          </a:bodyPr>
          <a:lstStyle/>
          <a:p>
            <a:pPr indent="0" lvl="0" marL="457200" rtl="0" algn="ctr">
              <a:spcBef>
                <a:spcPts val="0"/>
              </a:spcBef>
              <a:spcAft>
                <a:spcPts val="0"/>
              </a:spcAft>
              <a:buNone/>
            </a:pPr>
            <a:r>
              <a:rPr b="1" lang="en-US">
                <a:solidFill>
                  <a:srgbClr val="9900FF"/>
                </a:solidFill>
                <a:latin typeface="Comfortaa"/>
                <a:ea typeface="Comfortaa"/>
                <a:cs typeface="Comfortaa"/>
                <a:sym typeface="Comfortaa"/>
              </a:rPr>
              <a:t>- </a:t>
            </a:r>
            <a:r>
              <a:rPr b="1" lang="en-US">
                <a:solidFill>
                  <a:srgbClr val="9900FF"/>
                </a:solidFill>
                <a:latin typeface="Comfortaa"/>
                <a:ea typeface="Comfortaa"/>
                <a:cs typeface="Comfortaa"/>
                <a:sym typeface="Comfortaa"/>
              </a:rPr>
              <a:t>MANDATO CONSTITUCIONAL -</a:t>
            </a:r>
            <a:endParaRPr b="1">
              <a:solidFill>
                <a:srgbClr val="9900FF"/>
              </a:solidFill>
              <a:latin typeface="Comfortaa"/>
              <a:ea typeface="Comfortaa"/>
              <a:cs typeface="Comfortaa"/>
              <a:sym typeface="Comfortaa"/>
            </a:endParaRPr>
          </a:p>
          <a:p>
            <a:pPr indent="0" lvl="0" marL="0" rtl="0" algn="ctr">
              <a:spcBef>
                <a:spcPts val="0"/>
              </a:spcBef>
              <a:spcAft>
                <a:spcPts val="0"/>
              </a:spcAft>
              <a:buClr>
                <a:schemeClr val="dk1"/>
              </a:buClr>
              <a:buSzPct val="100000"/>
              <a:buFont typeface="Calibri"/>
              <a:buNone/>
            </a:pPr>
            <a:r>
              <a:rPr b="1" lang="en-US">
                <a:solidFill>
                  <a:srgbClr val="9900FF"/>
                </a:solidFill>
                <a:latin typeface="Comfortaa"/>
                <a:ea typeface="Comfortaa"/>
                <a:cs typeface="Comfortaa"/>
                <a:sym typeface="Comfortaa"/>
              </a:rPr>
              <a:t>“</a:t>
            </a:r>
            <a:r>
              <a:rPr b="1" lang="en-US" sz="4400">
                <a:solidFill>
                  <a:srgbClr val="9900FF"/>
                </a:solidFill>
                <a:latin typeface="Comfortaa"/>
                <a:ea typeface="Comfortaa"/>
                <a:cs typeface="Comfortaa"/>
                <a:sym typeface="Comfortaa"/>
              </a:rPr>
              <a:t>Juicio por jurados</a:t>
            </a:r>
            <a:r>
              <a:rPr b="1" lang="en-US">
                <a:solidFill>
                  <a:srgbClr val="9900FF"/>
                </a:solidFill>
                <a:latin typeface="Comfortaa"/>
                <a:ea typeface="Comfortaa"/>
                <a:cs typeface="Comfortaa"/>
                <a:sym typeface="Comfortaa"/>
              </a:rPr>
              <a:t>”</a:t>
            </a:r>
            <a:r>
              <a:rPr b="1" lang="en-US" sz="4400">
                <a:solidFill>
                  <a:srgbClr val="9900FF"/>
                </a:solidFill>
                <a:latin typeface="Comfortaa"/>
                <a:ea typeface="Comfortaa"/>
                <a:cs typeface="Comfortaa"/>
                <a:sym typeface="Comfortaa"/>
              </a:rPr>
              <a:t> (nacional) 1/3</a:t>
            </a:r>
            <a:endParaRPr b="1">
              <a:solidFill>
                <a:srgbClr val="9900FF"/>
              </a:solidFill>
              <a:latin typeface="Comfortaa"/>
              <a:ea typeface="Comfortaa"/>
              <a:cs typeface="Comfortaa"/>
              <a:sym typeface="Comfortaa"/>
            </a:endParaRPr>
          </a:p>
        </p:txBody>
      </p:sp>
      <p:sp>
        <p:nvSpPr>
          <p:cNvPr id="99" name="Google Shape;99;p15"/>
          <p:cNvSpPr txBox="1"/>
          <p:nvPr>
            <p:ph idx="1" type="body"/>
          </p:nvPr>
        </p:nvSpPr>
        <p:spPr>
          <a:xfrm>
            <a:off x="0" y="1600200"/>
            <a:ext cx="12189000" cy="52578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1000"/>
              </a:spcAft>
              <a:buClr>
                <a:schemeClr val="dk1"/>
              </a:buClr>
              <a:buSzPts val="1100"/>
              <a:buFont typeface="Arial"/>
              <a:buNone/>
            </a:pPr>
            <a:r>
              <a:rPr b="1" lang="en-US" sz="2000">
                <a:solidFill>
                  <a:srgbClr val="00FF00"/>
                </a:solidFill>
                <a:latin typeface="Comfortaa"/>
                <a:ea typeface="Comfortaa"/>
                <a:cs typeface="Comfortaa"/>
                <a:sym typeface="Comfortaa"/>
              </a:rPr>
              <a:t>La Constitución de 1994, en sus artículos 24, 75 inciso 12 y 118</a:t>
            </a:r>
            <a:r>
              <a:rPr lang="en-US" sz="2000">
                <a:solidFill>
                  <a:srgbClr val="FFFFFF"/>
                </a:solidFill>
                <a:latin typeface="Comfortaa"/>
                <a:ea typeface="Comfortaa"/>
                <a:cs typeface="Comfortaa"/>
                <a:sym typeface="Comfortaa"/>
              </a:rPr>
              <a:t>, estableció que el Congreso debía sancionar una ley para implementar el juicio por jurados en el ámbito federal. El objetivo era democratizar la justicia penal y garantizar la participación ciudadana en los procesos judiciales más importantes. Sin embargo, en casi tres décadas, el Congreso no ha avanzado con una ley nacional, lo que genera una deuda pendiente con el texto constitucional.</a:t>
            </a:r>
            <a:endParaRPr sz="4000">
              <a:latin typeface="Comfortaa"/>
              <a:ea typeface="Comfortaa"/>
              <a:cs typeface="Comfortaa"/>
              <a:sym typeface="Comforta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24242"/>
            </a:gs>
            <a:gs pos="100000">
              <a:srgbClr val="010101"/>
            </a:gs>
          </a:gsLst>
          <a:path path="circle">
            <a:fillToRect b="50%" l="50%" r="50%" t="50%"/>
          </a:path>
          <a:tileRect/>
        </a:gradFill>
      </p:bgPr>
    </p:bg>
    <p:spTree>
      <p:nvGrpSpPr>
        <p:cNvPr id="104" name="Shape 104"/>
        <p:cNvGrpSpPr/>
        <p:nvPr/>
      </p:nvGrpSpPr>
      <p:grpSpPr>
        <a:xfrm>
          <a:off x="0" y="0"/>
          <a:ext cx="0" cy="0"/>
          <a:chOff x="0" y="0"/>
          <a:chExt cx="0" cy="0"/>
        </a:xfrm>
      </p:grpSpPr>
      <p:sp>
        <p:nvSpPr>
          <p:cNvPr id="105" name="Google Shape;105;p16"/>
          <p:cNvSpPr txBox="1"/>
          <p:nvPr>
            <p:ph type="title"/>
          </p:nvPr>
        </p:nvSpPr>
        <p:spPr>
          <a:xfrm>
            <a:off x="0" y="274650"/>
            <a:ext cx="12189000" cy="1143000"/>
          </a:xfrm>
          <a:prstGeom prst="rect">
            <a:avLst/>
          </a:prstGeom>
          <a:noFill/>
          <a:ln>
            <a:noFill/>
          </a:ln>
        </p:spPr>
        <p:txBody>
          <a:bodyPr anchorCtr="0" anchor="ctr" bIns="45700" lIns="91425" spcFirstLastPara="1" rIns="91425" wrap="square" tIns="45700">
            <a:noAutofit/>
          </a:bodyPr>
          <a:lstStyle/>
          <a:p>
            <a:pPr indent="0" lvl="0" marL="914400" rtl="0" algn="ctr">
              <a:spcBef>
                <a:spcPts val="0"/>
              </a:spcBef>
              <a:spcAft>
                <a:spcPts val="0"/>
              </a:spcAft>
              <a:buSzPts val="990"/>
              <a:buNone/>
            </a:pPr>
            <a:r>
              <a:rPr b="1" lang="en-US" sz="3459">
                <a:solidFill>
                  <a:srgbClr val="9900FF"/>
                </a:solidFill>
                <a:latin typeface="Comfortaa"/>
                <a:ea typeface="Comfortaa"/>
                <a:cs typeface="Comfortaa"/>
                <a:sym typeface="Comfortaa"/>
              </a:rPr>
              <a:t>- IMPLEMENTACIÓN PROVINCIAL</a:t>
            </a:r>
            <a:r>
              <a:rPr b="1" lang="en-US" sz="3459">
                <a:solidFill>
                  <a:srgbClr val="9900FF"/>
                </a:solidFill>
                <a:latin typeface="Comfortaa"/>
                <a:ea typeface="Comfortaa"/>
                <a:cs typeface="Comfortaa"/>
                <a:sym typeface="Comfortaa"/>
              </a:rPr>
              <a:t> -</a:t>
            </a:r>
            <a:endParaRPr b="1" sz="3459">
              <a:solidFill>
                <a:srgbClr val="9900FF"/>
              </a:solidFill>
              <a:latin typeface="Comfortaa"/>
              <a:ea typeface="Comfortaa"/>
              <a:cs typeface="Comfortaa"/>
              <a:sym typeface="Comfortaa"/>
            </a:endParaRPr>
          </a:p>
          <a:p>
            <a:pPr indent="0" lvl="0" marL="0" rtl="0" algn="ctr">
              <a:spcBef>
                <a:spcPts val="0"/>
              </a:spcBef>
              <a:spcAft>
                <a:spcPts val="0"/>
              </a:spcAft>
              <a:buClr>
                <a:schemeClr val="dk1"/>
              </a:buClr>
              <a:buSzPts val="3960"/>
              <a:buFont typeface="Calibri"/>
              <a:buNone/>
            </a:pPr>
            <a:r>
              <a:rPr b="1" lang="en-US" sz="3459">
                <a:solidFill>
                  <a:srgbClr val="9900FF"/>
                </a:solidFill>
                <a:latin typeface="Comfortaa"/>
                <a:ea typeface="Comfortaa"/>
                <a:cs typeface="Comfortaa"/>
                <a:sym typeface="Comfortaa"/>
              </a:rPr>
              <a:t>“Avances y Contrastes” (Juicio por Jurados 2/3)</a:t>
            </a:r>
            <a:endParaRPr b="1" sz="3459">
              <a:solidFill>
                <a:srgbClr val="9900FF"/>
              </a:solidFill>
              <a:latin typeface="Comfortaa"/>
              <a:ea typeface="Comfortaa"/>
              <a:cs typeface="Comfortaa"/>
              <a:sym typeface="Comfortaa"/>
            </a:endParaRPr>
          </a:p>
        </p:txBody>
      </p:sp>
      <p:sp>
        <p:nvSpPr>
          <p:cNvPr id="106" name="Google Shape;106;p16"/>
          <p:cNvSpPr txBox="1"/>
          <p:nvPr>
            <p:ph idx="1" type="body"/>
          </p:nvPr>
        </p:nvSpPr>
        <p:spPr>
          <a:xfrm>
            <a:off x="0" y="1600200"/>
            <a:ext cx="12189000" cy="52578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lang="en-US" sz="2000">
                <a:solidFill>
                  <a:srgbClr val="FFFFFF"/>
                </a:solidFill>
                <a:latin typeface="Comfortaa"/>
                <a:ea typeface="Comfortaa"/>
                <a:cs typeface="Comfortaa"/>
                <a:sym typeface="Comfortaa"/>
              </a:rPr>
              <a:t>Aunque no se avanzó en el plano federal, algunas provincias como Córdoba, Neuquén y Buenos Aires sancionaron leyes propias para implementar el juicio por jurados en causas provinciales. </a:t>
            </a:r>
            <a:endParaRPr sz="2000">
              <a:solidFill>
                <a:srgbClr val="FFFFFF"/>
              </a:solidFill>
              <a:latin typeface="Comfortaa"/>
              <a:ea typeface="Comfortaa"/>
              <a:cs typeface="Comfortaa"/>
              <a:sym typeface="Comfortaa"/>
            </a:endParaRPr>
          </a:p>
          <a:p>
            <a:pPr indent="0" lvl="0" marL="0" rtl="0" algn="l">
              <a:lnSpc>
                <a:spcPct val="115000"/>
              </a:lnSpc>
              <a:spcBef>
                <a:spcPts val="1000"/>
              </a:spcBef>
              <a:spcAft>
                <a:spcPts val="0"/>
              </a:spcAft>
              <a:buClr>
                <a:schemeClr val="dk1"/>
              </a:buClr>
              <a:buSzPts val="1100"/>
              <a:buFont typeface="Arial"/>
              <a:buNone/>
            </a:pPr>
            <a:r>
              <a:rPr lang="en-US" sz="2000">
                <a:solidFill>
                  <a:srgbClr val="FFFFFF"/>
                </a:solidFill>
                <a:latin typeface="Comfortaa"/>
                <a:ea typeface="Comfortaa"/>
                <a:cs typeface="Comfortaa"/>
                <a:sym typeface="Comfortaa"/>
              </a:rPr>
              <a:t>Estas experiencias han mostrado avances en transparencia y legitimidad, pero también desafíos logísticos y costos elevados. La falta de una ley marco nacional genera disparidad entre provincias.</a:t>
            </a:r>
            <a:endParaRPr sz="2000">
              <a:solidFill>
                <a:srgbClr val="FFFFFF"/>
              </a:solidFill>
              <a:latin typeface="Comfortaa"/>
              <a:ea typeface="Comfortaa"/>
              <a:cs typeface="Comfortaa"/>
              <a:sym typeface="Comfortaa"/>
            </a:endParaRPr>
          </a:p>
          <a:p>
            <a:pPr indent="0" lvl="0" marL="0" rtl="0" algn="l">
              <a:lnSpc>
                <a:spcPct val="115000"/>
              </a:lnSpc>
              <a:spcBef>
                <a:spcPts val="1000"/>
              </a:spcBef>
              <a:spcAft>
                <a:spcPts val="1000"/>
              </a:spcAft>
              <a:buNone/>
            </a:pPr>
            <a:r>
              <a:t/>
            </a:r>
            <a:endParaRPr b="1" sz="2000">
              <a:solidFill>
                <a:srgbClr val="00FF00"/>
              </a:solidFill>
              <a:latin typeface="Comfortaa"/>
              <a:ea typeface="Comfortaa"/>
              <a:cs typeface="Comfortaa"/>
              <a:sym typeface="Comforta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24242"/>
            </a:gs>
            <a:gs pos="100000">
              <a:srgbClr val="010101"/>
            </a:gs>
          </a:gsLst>
          <a:path path="circle">
            <a:fillToRect b="50%" l="50%" r="50%" t="50%"/>
          </a:path>
          <a:tileRect/>
        </a:gradFill>
      </p:bgPr>
    </p:bg>
    <p:spTree>
      <p:nvGrpSpPr>
        <p:cNvPr id="111" name="Shape 111"/>
        <p:cNvGrpSpPr/>
        <p:nvPr/>
      </p:nvGrpSpPr>
      <p:grpSpPr>
        <a:xfrm>
          <a:off x="0" y="0"/>
          <a:ext cx="0" cy="0"/>
          <a:chOff x="0" y="0"/>
          <a:chExt cx="0" cy="0"/>
        </a:xfrm>
      </p:grpSpPr>
      <p:sp>
        <p:nvSpPr>
          <p:cNvPr id="112" name="Google Shape;112;p17"/>
          <p:cNvSpPr txBox="1"/>
          <p:nvPr>
            <p:ph type="title"/>
          </p:nvPr>
        </p:nvSpPr>
        <p:spPr>
          <a:xfrm>
            <a:off x="36050" y="0"/>
            <a:ext cx="12189000" cy="1143000"/>
          </a:xfrm>
          <a:prstGeom prst="rect">
            <a:avLst/>
          </a:prstGeom>
          <a:noFill/>
          <a:ln>
            <a:noFill/>
          </a:ln>
        </p:spPr>
        <p:txBody>
          <a:bodyPr anchorCtr="0" anchor="ctr" bIns="45700" lIns="91425" spcFirstLastPara="1" rIns="91425" wrap="square" tIns="45700">
            <a:normAutofit fontScale="90000"/>
          </a:bodyPr>
          <a:lstStyle/>
          <a:p>
            <a:pPr indent="0" lvl="0" marL="457200" rtl="0" algn="l">
              <a:spcBef>
                <a:spcPts val="0"/>
              </a:spcBef>
              <a:spcAft>
                <a:spcPts val="0"/>
              </a:spcAft>
              <a:buNone/>
            </a:pPr>
            <a:r>
              <a:t/>
            </a:r>
            <a:endParaRPr b="1">
              <a:solidFill>
                <a:srgbClr val="9900FF"/>
              </a:solidFill>
            </a:endParaRPr>
          </a:p>
          <a:p>
            <a:pPr indent="0" lvl="0" marL="0" rtl="0" algn="ctr">
              <a:spcBef>
                <a:spcPts val="0"/>
              </a:spcBef>
              <a:spcAft>
                <a:spcPts val="0"/>
              </a:spcAft>
              <a:buClr>
                <a:schemeClr val="dk1"/>
              </a:buClr>
              <a:buSzPct val="133783"/>
              <a:buFont typeface="Calibri"/>
              <a:buNone/>
            </a:pPr>
            <a:r>
              <a:rPr b="1" lang="en-US" sz="3288">
                <a:solidFill>
                  <a:srgbClr val="9900FF"/>
                </a:solidFill>
                <a:latin typeface="Comfortaa"/>
                <a:ea typeface="Comfortaa"/>
                <a:cs typeface="Comfortaa"/>
                <a:sym typeface="Comfortaa"/>
              </a:rPr>
              <a:t>“Proyectos federales y </a:t>
            </a:r>
            <a:r>
              <a:rPr b="1" lang="en-US" sz="3288">
                <a:solidFill>
                  <a:srgbClr val="9900FF"/>
                </a:solidFill>
                <a:latin typeface="Comfortaa"/>
                <a:ea typeface="Comfortaa"/>
                <a:cs typeface="Comfortaa"/>
                <a:sym typeface="Comfortaa"/>
              </a:rPr>
              <a:t>obstáculos</a:t>
            </a:r>
            <a:r>
              <a:rPr b="1" lang="en-US" sz="3288">
                <a:solidFill>
                  <a:srgbClr val="9900FF"/>
                </a:solidFill>
                <a:latin typeface="Comfortaa"/>
                <a:ea typeface="Comfortaa"/>
                <a:cs typeface="Comfortaa"/>
                <a:sym typeface="Comfortaa"/>
              </a:rPr>
              <a:t>” </a:t>
            </a:r>
            <a:endParaRPr b="1" sz="3288">
              <a:solidFill>
                <a:srgbClr val="9900FF"/>
              </a:solidFill>
              <a:latin typeface="Comfortaa"/>
              <a:ea typeface="Comfortaa"/>
              <a:cs typeface="Comfortaa"/>
              <a:sym typeface="Comfortaa"/>
            </a:endParaRPr>
          </a:p>
          <a:p>
            <a:pPr indent="0" lvl="0" marL="0" rtl="0" algn="ctr">
              <a:spcBef>
                <a:spcPts val="0"/>
              </a:spcBef>
              <a:spcAft>
                <a:spcPts val="0"/>
              </a:spcAft>
              <a:buClr>
                <a:schemeClr val="dk1"/>
              </a:buClr>
              <a:buSzPct val="133783"/>
              <a:buFont typeface="Calibri"/>
              <a:buNone/>
            </a:pPr>
            <a:r>
              <a:rPr b="1" lang="en-US" sz="3288">
                <a:solidFill>
                  <a:srgbClr val="9900FF"/>
                </a:solidFill>
                <a:latin typeface="Comfortaa"/>
                <a:ea typeface="Comfortaa"/>
                <a:cs typeface="Comfortaa"/>
                <a:sym typeface="Comfortaa"/>
              </a:rPr>
              <a:t>(</a:t>
            </a:r>
            <a:r>
              <a:rPr b="1" lang="en-US" sz="3288">
                <a:solidFill>
                  <a:srgbClr val="9900FF"/>
                </a:solidFill>
                <a:latin typeface="Comfortaa"/>
                <a:ea typeface="Comfortaa"/>
                <a:cs typeface="Comfortaa"/>
                <a:sym typeface="Comfortaa"/>
              </a:rPr>
              <a:t>Juicio por Jurados 3/3</a:t>
            </a:r>
            <a:r>
              <a:rPr b="1" lang="en-US" sz="3288">
                <a:solidFill>
                  <a:srgbClr val="9900FF"/>
                </a:solidFill>
                <a:latin typeface="Comfortaa"/>
                <a:ea typeface="Comfortaa"/>
                <a:cs typeface="Comfortaa"/>
                <a:sym typeface="Comfortaa"/>
              </a:rPr>
              <a:t>)</a:t>
            </a:r>
            <a:endParaRPr b="1" sz="3288">
              <a:solidFill>
                <a:srgbClr val="9900FF"/>
              </a:solidFill>
              <a:latin typeface="Comfortaa"/>
              <a:ea typeface="Comfortaa"/>
              <a:cs typeface="Comfortaa"/>
              <a:sym typeface="Comfortaa"/>
            </a:endParaRPr>
          </a:p>
        </p:txBody>
      </p:sp>
      <p:sp>
        <p:nvSpPr>
          <p:cNvPr id="113" name="Google Shape;113;p17"/>
          <p:cNvSpPr txBox="1"/>
          <p:nvPr>
            <p:ph idx="1" type="body"/>
          </p:nvPr>
        </p:nvSpPr>
        <p:spPr>
          <a:xfrm>
            <a:off x="0" y="1600200"/>
            <a:ext cx="12189000" cy="52578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lang="en-US" sz="2000">
                <a:solidFill>
                  <a:srgbClr val="FFFFFF"/>
                </a:solidFill>
                <a:latin typeface="Comfortaa"/>
                <a:ea typeface="Comfortaa"/>
                <a:cs typeface="Comfortaa"/>
                <a:sym typeface="Comfortaa"/>
              </a:rPr>
              <a:t>A lo largo de los años se presentaron múltiples proyectos en el Congreso para regular el juicio por jurados, como el de 2016, pero ninguno prosperó. </a:t>
            </a:r>
            <a:endParaRPr sz="2000">
              <a:solidFill>
                <a:srgbClr val="FFFFFF"/>
              </a:solidFill>
              <a:latin typeface="Comfortaa"/>
              <a:ea typeface="Comfortaa"/>
              <a:cs typeface="Comfortaa"/>
              <a:sym typeface="Comfortaa"/>
            </a:endParaRPr>
          </a:p>
          <a:p>
            <a:pPr indent="0" lvl="0" marL="0" rtl="0" algn="l">
              <a:lnSpc>
                <a:spcPct val="115000"/>
              </a:lnSpc>
              <a:spcBef>
                <a:spcPts val="1000"/>
              </a:spcBef>
              <a:spcAft>
                <a:spcPts val="0"/>
              </a:spcAft>
              <a:buNone/>
            </a:pPr>
            <a:r>
              <a:rPr lang="en-US" sz="2000">
                <a:solidFill>
                  <a:srgbClr val="FFFFFF"/>
                </a:solidFill>
                <a:latin typeface="Comfortaa"/>
                <a:ea typeface="Comfortaa"/>
                <a:cs typeface="Comfortaa"/>
                <a:sym typeface="Comfortaa"/>
              </a:rPr>
              <a:t>Entre las razones se encuentran los altos costos de organización, la necesidad de capacitación y, sobre todo, la falta de consenso político entre las fuerzas mayoritarias.</a:t>
            </a:r>
            <a:endParaRPr sz="2000">
              <a:solidFill>
                <a:srgbClr val="FFFFFF"/>
              </a:solidFill>
              <a:latin typeface="Comfortaa"/>
              <a:ea typeface="Comfortaa"/>
              <a:cs typeface="Comfortaa"/>
              <a:sym typeface="Comfortaa"/>
            </a:endParaRPr>
          </a:p>
          <a:p>
            <a:pPr indent="-355600" lvl="0" marL="457200" rtl="0" algn="l">
              <a:lnSpc>
                <a:spcPct val="115000"/>
              </a:lnSpc>
              <a:spcBef>
                <a:spcPts val="1000"/>
              </a:spcBef>
              <a:spcAft>
                <a:spcPts val="0"/>
              </a:spcAft>
              <a:buClr>
                <a:srgbClr val="FFFFFF"/>
              </a:buClr>
              <a:buSzPts val="2000"/>
              <a:buFont typeface="Comfortaa"/>
              <a:buChar char="-"/>
            </a:pPr>
            <a:r>
              <a:rPr b="1" lang="en-US" sz="2000">
                <a:solidFill>
                  <a:srgbClr val="00FF00"/>
                </a:solidFill>
                <a:latin typeface="Comfortaa"/>
                <a:ea typeface="Comfortaa"/>
                <a:cs typeface="Comfortaa"/>
                <a:sym typeface="Comfortaa"/>
              </a:rPr>
              <a:t>En la provincia de Buenos Aires, el caso de Fernando Farré (2016) </a:t>
            </a:r>
            <a:br>
              <a:rPr b="1" lang="en-US" sz="2000">
                <a:solidFill>
                  <a:srgbClr val="FFFFFF"/>
                </a:solidFill>
                <a:latin typeface="Comfortaa"/>
                <a:ea typeface="Comfortaa"/>
                <a:cs typeface="Comfortaa"/>
                <a:sym typeface="Comfortaa"/>
              </a:rPr>
            </a:br>
            <a:r>
              <a:rPr b="1" lang="en-US" sz="2000">
                <a:solidFill>
                  <a:srgbClr val="FFFFFF"/>
                </a:solidFill>
                <a:latin typeface="Comfortaa"/>
                <a:ea typeface="Comfortaa"/>
                <a:cs typeface="Comfortaa"/>
                <a:sym typeface="Comfortaa"/>
              </a:rPr>
              <a:t>condenado por un jurado popular por femicidio, mostró cómo funciona este mecanismo en la práctica. </a:t>
            </a:r>
            <a:br>
              <a:rPr b="1" lang="en-US" sz="2000">
                <a:solidFill>
                  <a:srgbClr val="FFFFFF"/>
                </a:solidFill>
                <a:latin typeface="Comfortaa"/>
                <a:ea typeface="Comfortaa"/>
                <a:cs typeface="Comfortaa"/>
                <a:sym typeface="Comfortaa"/>
              </a:rPr>
            </a:br>
            <a:r>
              <a:rPr b="1" lang="en-US" sz="2000">
                <a:solidFill>
                  <a:srgbClr val="FFFFFF"/>
                </a:solidFill>
                <a:latin typeface="Comfortaa"/>
                <a:ea typeface="Comfortaa"/>
                <a:cs typeface="Comfortaa"/>
                <a:sym typeface="Comfortaa"/>
              </a:rPr>
              <a:t>La disparidad entre provincias y la ausencia de una ley nacional generan una deuda constitucional aún pendiente al 2025.</a:t>
            </a:r>
            <a:endParaRPr sz="2000">
              <a:solidFill>
                <a:srgbClr val="FFFFFF"/>
              </a:solidFill>
              <a:latin typeface="Comfortaa"/>
              <a:ea typeface="Comfortaa"/>
              <a:cs typeface="Comfortaa"/>
              <a:sym typeface="Comforta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24242"/>
            </a:gs>
            <a:gs pos="100000">
              <a:srgbClr val="010101"/>
            </a:gs>
          </a:gsLst>
          <a:path path="circle">
            <a:fillToRect b="50%" l="50%" r="50%" t="50%"/>
          </a:path>
          <a:tileRect/>
        </a:gradFill>
      </p:bgPr>
    </p:bg>
    <p:spTree>
      <p:nvGrpSpPr>
        <p:cNvPr id="118" name="Shape 118"/>
        <p:cNvGrpSpPr/>
        <p:nvPr/>
      </p:nvGrpSpPr>
      <p:grpSpPr>
        <a:xfrm>
          <a:off x="0" y="0"/>
          <a:ext cx="0" cy="0"/>
          <a:chOff x="0" y="0"/>
          <a:chExt cx="0" cy="0"/>
        </a:xfrm>
      </p:grpSpPr>
      <p:sp>
        <p:nvSpPr>
          <p:cNvPr id="119" name="Google Shape;119;p18"/>
          <p:cNvSpPr txBox="1"/>
          <p:nvPr>
            <p:ph type="title"/>
          </p:nvPr>
        </p:nvSpPr>
        <p:spPr>
          <a:xfrm>
            <a:off x="0" y="274650"/>
            <a:ext cx="12189000" cy="11430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000"/>
              </a:spcBef>
              <a:spcAft>
                <a:spcPts val="0"/>
              </a:spcAft>
              <a:buClr>
                <a:schemeClr val="dk1"/>
              </a:buClr>
              <a:buSzPts val="1100"/>
              <a:buFont typeface="Arial"/>
              <a:buNone/>
            </a:pPr>
            <a:r>
              <a:t/>
            </a:r>
            <a:endParaRPr b="1" sz="3000">
              <a:solidFill>
                <a:srgbClr val="9900FF"/>
              </a:solidFill>
              <a:latin typeface="Comfortaa"/>
              <a:ea typeface="Comfortaa"/>
              <a:cs typeface="Comfortaa"/>
              <a:sym typeface="Comfortaa"/>
            </a:endParaRPr>
          </a:p>
          <a:p>
            <a:pPr indent="0" lvl="0" marL="0" rtl="0" algn="l">
              <a:lnSpc>
                <a:spcPct val="115000"/>
              </a:lnSpc>
              <a:spcBef>
                <a:spcPts val="1000"/>
              </a:spcBef>
              <a:spcAft>
                <a:spcPts val="0"/>
              </a:spcAft>
              <a:buClr>
                <a:schemeClr val="dk1"/>
              </a:buClr>
              <a:buSzPts val="1100"/>
              <a:buFont typeface="Arial"/>
              <a:buNone/>
            </a:pPr>
            <a:r>
              <a:rPr b="1" lang="en-US" sz="3000">
                <a:solidFill>
                  <a:srgbClr val="9900FF"/>
                </a:solidFill>
                <a:latin typeface="Comfortaa"/>
                <a:ea typeface="Comfortaa"/>
                <a:cs typeface="Comfortaa"/>
                <a:sym typeface="Comfortaa"/>
              </a:rPr>
              <a:t>“</a:t>
            </a:r>
            <a:r>
              <a:rPr b="1" lang="en-US" sz="3000">
                <a:solidFill>
                  <a:srgbClr val="9900FF"/>
                </a:solidFill>
                <a:latin typeface="Comfortaa"/>
                <a:ea typeface="Comfortaa"/>
                <a:cs typeface="Comfortaa"/>
                <a:sym typeface="Comfortaa"/>
              </a:rPr>
              <a:t>Ley-convenio de coparticipación y Organismo Fiscal Federal” (Art. 75 inc. 2)</a:t>
            </a:r>
            <a:endParaRPr b="1" sz="3000">
              <a:solidFill>
                <a:srgbClr val="9900FF"/>
              </a:solidFill>
              <a:latin typeface="Comfortaa"/>
              <a:ea typeface="Comfortaa"/>
              <a:cs typeface="Comfortaa"/>
              <a:sym typeface="Comfortaa"/>
            </a:endParaRPr>
          </a:p>
          <a:p>
            <a:pPr indent="0" lvl="0" marL="0" rtl="0" algn="ctr">
              <a:spcBef>
                <a:spcPts val="0"/>
              </a:spcBef>
              <a:spcAft>
                <a:spcPts val="0"/>
              </a:spcAft>
              <a:buClr>
                <a:schemeClr val="dk1"/>
              </a:buClr>
              <a:buSzPts val="4400"/>
              <a:buFont typeface="Calibri"/>
              <a:buNone/>
            </a:pPr>
            <a:r>
              <a:t/>
            </a:r>
            <a:endParaRPr b="1">
              <a:solidFill>
                <a:srgbClr val="9900FF"/>
              </a:solidFill>
            </a:endParaRPr>
          </a:p>
        </p:txBody>
      </p:sp>
      <p:sp>
        <p:nvSpPr>
          <p:cNvPr id="120" name="Google Shape;120;p18"/>
          <p:cNvSpPr txBox="1"/>
          <p:nvPr>
            <p:ph idx="1" type="body"/>
          </p:nvPr>
        </p:nvSpPr>
        <p:spPr>
          <a:xfrm>
            <a:off x="0" y="1600200"/>
            <a:ext cx="12189000" cy="52578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b="1" lang="en-US" sz="2000">
                <a:solidFill>
                  <a:srgbClr val="00FF00"/>
                </a:solidFill>
                <a:latin typeface="Comfortaa"/>
                <a:ea typeface="Comfortaa"/>
                <a:cs typeface="Comfortaa"/>
                <a:sym typeface="Comfortaa"/>
              </a:rPr>
              <a:t>El artículo 75 inciso 2</a:t>
            </a:r>
            <a:r>
              <a:rPr lang="en-US" sz="2000">
                <a:solidFill>
                  <a:srgbClr val="FFFFFF"/>
                </a:solidFill>
                <a:latin typeface="Comfortaa"/>
                <a:ea typeface="Comfortaa"/>
                <a:cs typeface="Comfortaa"/>
                <a:sym typeface="Comfortaa"/>
              </a:rPr>
              <a:t> ordenaba la sanción de una nueva ley-convenio de coparticipación federal y la creación de un Organismo Fiscal Federal con participación de las provincias. Este organismo debía equilibrar la distribución de recursos entre Nación y provincias. Sin embargo, nunca se concretó. La falta de este marco legal ha generado conflictos recurrentes entre jurisdicciones y demandas ante la Corte Suprema.</a:t>
            </a:r>
            <a:endParaRPr sz="2000">
              <a:solidFill>
                <a:srgbClr val="FFFFFF"/>
              </a:solidFill>
              <a:latin typeface="Comfortaa"/>
              <a:ea typeface="Comfortaa"/>
              <a:cs typeface="Comfortaa"/>
              <a:sym typeface="Comfortaa"/>
            </a:endParaRPr>
          </a:p>
          <a:p>
            <a:pPr indent="-355600" lvl="0" marL="457200" rtl="0" algn="l">
              <a:lnSpc>
                <a:spcPct val="115000"/>
              </a:lnSpc>
              <a:spcBef>
                <a:spcPts val="1000"/>
              </a:spcBef>
              <a:spcAft>
                <a:spcPts val="0"/>
              </a:spcAft>
              <a:buClr>
                <a:srgbClr val="FFFFFF"/>
              </a:buClr>
              <a:buSzPts val="2000"/>
              <a:buFont typeface="Comfortaa"/>
              <a:buChar char="-"/>
            </a:pPr>
            <a:r>
              <a:rPr b="1" lang="en-US" sz="2000">
                <a:solidFill>
                  <a:srgbClr val="FFFFFF"/>
                </a:solidFill>
                <a:latin typeface="Comfortaa"/>
                <a:ea typeface="Comfortaa"/>
                <a:cs typeface="Comfortaa"/>
                <a:sym typeface="Comfortaa"/>
              </a:rPr>
              <a:t>En 2015 la Corte Suprema ordenó a Santa Fe, San Luis y Córdoba </a:t>
            </a:r>
            <a:br>
              <a:rPr b="1" lang="en-US" sz="2000">
                <a:solidFill>
                  <a:srgbClr val="FFFFFF"/>
                </a:solidFill>
                <a:latin typeface="Comfortaa"/>
                <a:ea typeface="Comfortaa"/>
                <a:cs typeface="Comfortaa"/>
                <a:sym typeface="Comfortaa"/>
              </a:rPr>
            </a:br>
            <a:r>
              <a:rPr b="1" lang="en-US" sz="2000">
                <a:solidFill>
                  <a:srgbClr val="FFFFFF"/>
                </a:solidFill>
                <a:latin typeface="Comfortaa"/>
                <a:ea typeface="Comfortaa"/>
                <a:cs typeface="Comfortaa"/>
                <a:sym typeface="Comfortaa"/>
              </a:rPr>
              <a:t>la devolución de un 15% de fondos coparticipables. </a:t>
            </a:r>
            <a:endParaRPr b="1" sz="2000">
              <a:solidFill>
                <a:srgbClr val="FFFFFF"/>
              </a:solidFill>
              <a:latin typeface="Comfortaa"/>
              <a:ea typeface="Comfortaa"/>
              <a:cs typeface="Comfortaa"/>
              <a:sym typeface="Comfortaa"/>
            </a:endParaRPr>
          </a:p>
          <a:p>
            <a:pPr indent="-355600" lvl="0" marL="457200" rtl="0" algn="l">
              <a:lnSpc>
                <a:spcPct val="115000"/>
              </a:lnSpc>
              <a:spcBef>
                <a:spcPts val="1000"/>
              </a:spcBef>
              <a:spcAft>
                <a:spcPts val="0"/>
              </a:spcAft>
              <a:buClr>
                <a:srgbClr val="FFFFFF"/>
              </a:buClr>
              <a:buSzPts val="2000"/>
              <a:buFont typeface="Comfortaa"/>
              <a:buChar char="-"/>
            </a:pPr>
            <a:r>
              <a:rPr b="1" lang="en-US" sz="2000">
                <a:solidFill>
                  <a:srgbClr val="FFFFFF"/>
                </a:solidFill>
                <a:latin typeface="Comfortaa"/>
                <a:ea typeface="Comfortaa"/>
                <a:cs typeface="Comfortaa"/>
                <a:sym typeface="Comfortaa"/>
              </a:rPr>
              <a:t>En 2022, el conflicto Nación-CABA derivó en una cautelar que fijó el 2,95% para la Ciudad, evidenciando la falta de un régimen claro.</a:t>
            </a:r>
            <a:endParaRPr sz="2000">
              <a:solidFill>
                <a:srgbClr val="FFFFFF"/>
              </a:solidFill>
              <a:latin typeface="Comfortaa"/>
              <a:ea typeface="Comfortaa"/>
              <a:cs typeface="Comfortaa"/>
              <a:sym typeface="Comforta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24242"/>
            </a:gs>
            <a:gs pos="100000">
              <a:srgbClr val="010101"/>
            </a:gs>
          </a:gsLst>
          <a:path path="circle">
            <a:fillToRect b="50%" l="50%" r="50%" t="50%"/>
          </a:path>
          <a:tileRect/>
        </a:gradFill>
      </p:bgPr>
    </p:bg>
    <p:spTree>
      <p:nvGrpSpPr>
        <p:cNvPr id="125" name="Shape 125"/>
        <p:cNvGrpSpPr/>
        <p:nvPr/>
      </p:nvGrpSpPr>
      <p:grpSpPr>
        <a:xfrm>
          <a:off x="0" y="0"/>
          <a:ext cx="0" cy="0"/>
          <a:chOff x="0" y="0"/>
          <a:chExt cx="0" cy="0"/>
        </a:xfrm>
      </p:grpSpPr>
      <p:sp>
        <p:nvSpPr>
          <p:cNvPr id="126" name="Google Shape;126;p19"/>
          <p:cNvSpPr txBox="1"/>
          <p:nvPr>
            <p:ph type="title"/>
          </p:nvPr>
        </p:nvSpPr>
        <p:spPr>
          <a:xfrm>
            <a:off x="0" y="274650"/>
            <a:ext cx="12189000" cy="1143000"/>
          </a:xfrm>
          <a:prstGeom prst="rect">
            <a:avLst/>
          </a:prstGeom>
          <a:noFill/>
          <a:ln>
            <a:noFill/>
          </a:ln>
        </p:spPr>
        <p:txBody>
          <a:bodyPr anchorCtr="0" anchor="ctr" bIns="45700" lIns="91425" spcFirstLastPara="1" rIns="91425" wrap="square" tIns="45700">
            <a:noAutofit/>
          </a:bodyPr>
          <a:lstStyle/>
          <a:p>
            <a:pPr indent="0" lvl="0" marL="0" rtl="0" algn="ctr">
              <a:lnSpc>
                <a:spcPct val="115000"/>
              </a:lnSpc>
              <a:spcBef>
                <a:spcPts val="1000"/>
              </a:spcBef>
              <a:spcAft>
                <a:spcPts val="0"/>
              </a:spcAft>
              <a:buClr>
                <a:schemeClr val="dk1"/>
              </a:buClr>
              <a:buSzPts val="1100"/>
              <a:buFont typeface="Arial"/>
              <a:buNone/>
            </a:pPr>
            <a:r>
              <a:rPr b="1" lang="en-US" sz="3000">
                <a:solidFill>
                  <a:srgbClr val="9900FF"/>
                </a:solidFill>
                <a:latin typeface="Comfortaa"/>
                <a:ea typeface="Comfortaa"/>
                <a:cs typeface="Comfortaa"/>
                <a:sym typeface="Comfortaa"/>
              </a:rPr>
              <a:t>“Banco Federal” (Art. 75 inc. 6)</a:t>
            </a:r>
            <a:endParaRPr b="1" sz="3000">
              <a:solidFill>
                <a:srgbClr val="9900FF"/>
              </a:solidFill>
              <a:latin typeface="Comfortaa"/>
              <a:ea typeface="Comfortaa"/>
              <a:cs typeface="Comfortaa"/>
              <a:sym typeface="Comfortaa"/>
            </a:endParaRPr>
          </a:p>
          <a:p>
            <a:pPr indent="0" lvl="0" marL="0" rtl="0" algn="ctr">
              <a:spcBef>
                <a:spcPts val="0"/>
              </a:spcBef>
              <a:spcAft>
                <a:spcPts val="0"/>
              </a:spcAft>
              <a:buClr>
                <a:schemeClr val="dk1"/>
              </a:buClr>
              <a:buSzPts val="4400"/>
              <a:buFont typeface="Calibri"/>
              <a:buNone/>
            </a:pPr>
            <a:r>
              <a:t/>
            </a:r>
            <a:endParaRPr b="1">
              <a:solidFill>
                <a:srgbClr val="9900FF"/>
              </a:solidFill>
            </a:endParaRPr>
          </a:p>
        </p:txBody>
      </p:sp>
      <p:sp>
        <p:nvSpPr>
          <p:cNvPr id="127" name="Google Shape;127;p19"/>
          <p:cNvSpPr txBox="1"/>
          <p:nvPr>
            <p:ph idx="1" type="body"/>
          </p:nvPr>
        </p:nvSpPr>
        <p:spPr>
          <a:xfrm>
            <a:off x="0" y="1600200"/>
            <a:ext cx="12189000" cy="52578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b="1" lang="en-US" sz="2000">
                <a:solidFill>
                  <a:srgbClr val="FFFFFF"/>
                </a:solidFill>
                <a:latin typeface="Comfortaa"/>
                <a:ea typeface="Comfortaa"/>
                <a:cs typeface="Comfortaa"/>
                <a:sym typeface="Comfortaa"/>
              </a:rPr>
              <a:t>La Constitución facultaba al Congreso para crear un Banco Federal con la capacidad de emitir moneda, un proyecto pensado para reforzar el federalismo económico. En la práctica, el Banco Central de la República Argentina (BCRA) siguió siendo el único organismo monetario y nunca se materializó la figura de un banco federal autónomo.</a:t>
            </a:r>
            <a:endParaRPr b="1" sz="2000">
              <a:solidFill>
                <a:srgbClr val="FFFFFF"/>
              </a:solidFill>
              <a:latin typeface="Comfortaa"/>
              <a:ea typeface="Comfortaa"/>
              <a:cs typeface="Comfortaa"/>
              <a:sym typeface="Comfortaa"/>
            </a:endParaRPr>
          </a:p>
          <a:p>
            <a:pPr indent="-355600" lvl="0" marL="457200" rtl="0" algn="l">
              <a:lnSpc>
                <a:spcPct val="115000"/>
              </a:lnSpc>
              <a:spcBef>
                <a:spcPts val="1000"/>
              </a:spcBef>
              <a:spcAft>
                <a:spcPts val="0"/>
              </a:spcAft>
              <a:buClr>
                <a:srgbClr val="FFFFFF"/>
              </a:buClr>
              <a:buSzPts val="2000"/>
              <a:buFont typeface="Comfortaa"/>
              <a:buChar char="-"/>
            </a:pPr>
            <a:r>
              <a:rPr b="1" lang="en-US" sz="2000">
                <a:solidFill>
                  <a:srgbClr val="FFFFFF"/>
                </a:solidFill>
                <a:latin typeface="Comfortaa"/>
                <a:ea typeface="Comfortaa"/>
                <a:cs typeface="Comfortaa"/>
                <a:sym typeface="Comfortaa"/>
              </a:rPr>
              <a:t>En la práctica, el Banco Central de la República Argentina (BCRA) asumió esas funciones desde 1935. La diferencia entre lo previsto en la Constitución y la realidad institucional es un ejemplo de norma no reglamentada.</a:t>
            </a:r>
            <a:endParaRPr b="1" sz="2000">
              <a:solidFill>
                <a:srgbClr val="FFFFFF"/>
              </a:solidFill>
              <a:latin typeface="Comfortaa"/>
              <a:ea typeface="Comfortaa"/>
              <a:cs typeface="Comfortaa"/>
              <a:sym typeface="Comforta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24242"/>
            </a:gs>
            <a:gs pos="100000">
              <a:srgbClr val="010101"/>
            </a:gs>
          </a:gsLst>
          <a:path path="circle">
            <a:fillToRect b="50%" l="50%" r="50%" t="50%"/>
          </a:path>
          <a:tileRect/>
        </a:gradFill>
      </p:bgPr>
    </p:bg>
    <p:spTree>
      <p:nvGrpSpPr>
        <p:cNvPr id="132" name="Shape 132"/>
        <p:cNvGrpSpPr/>
        <p:nvPr/>
      </p:nvGrpSpPr>
      <p:grpSpPr>
        <a:xfrm>
          <a:off x="0" y="0"/>
          <a:ext cx="0" cy="0"/>
          <a:chOff x="0" y="0"/>
          <a:chExt cx="0" cy="0"/>
        </a:xfrm>
      </p:grpSpPr>
      <p:sp>
        <p:nvSpPr>
          <p:cNvPr id="133" name="Google Shape;133;p20"/>
          <p:cNvSpPr txBox="1"/>
          <p:nvPr>
            <p:ph type="title"/>
          </p:nvPr>
        </p:nvSpPr>
        <p:spPr>
          <a:xfrm>
            <a:off x="0" y="274650"/>
            <a:ext cx="12189000" cy="1143000"/>
          </a:xfrm>
          <a:prstGeom prst="rect">
            <a:avLst/>
          </a:prstGeom>
          <a:noFill/>
          <a:ln>
            <a:noFill/>
          </a:ln>
        </p:spPr>
        <p:txBody>
          <a:bodyPr anchorCtr="0" anchor="ctr" bIns="45700" lIns="91425" spcFirstLastPara="1" rIns="91425" wrap="square" tIns="45700">
            <a:noAutofit/>
          </a:bodyPr>
          <a:lstStyle/>
          <a:p>
            <a:pPr indent="0" lvl="0" marL="0" rtl="0" algn="ctr">
              <a:lnSpc>
                <a:spcPct val="115000"/>
              </a:lnSpc>
              <a:spcBef>
                <a:spcPts val="1000"/>
              </a:spcBef>
              <a:spcAft>
                <a:spcPts val="0"/>
              </a:spcAft>
              <a:buClr>
                <a:schemeClr val="dk1"/>
              </a:buClr>
              <a:buSzPts val="1100"/>
              <a:buFont typeface="Arial"/>
              <a:buNone/>
            </a:pPr>
            <a:r>
              <a:rPr b="1" lang="en-US" sz="3000">
                <a:solidFill>
                  <a:srgbClr val="9900FF"/>
                </a:solidFill>
                <a:latin typeface="Comfortaa"/>
                <a:ea typeface="Comfortaa"/>
                <a:cs typeface="Comfortaa"/>
                <a:sym typeface="Comfortaa"/>
              </a:rPr>
              <a:t>“Comisión Bicameral y control de DNU”</a:t>
            </a:r>
            <a:endParaRPr b="1" sz="3000">
              <a:solidFill>
                <a:srgbClr val="9900FF"/>
              </a:solidFill>
              <a:latin typeface="Comfortaa"/>
              <a:ea typeface="Comfortaa"/>
              <a:cs typeface="Comfortaa"/>
              <a:sym typeface="Comfortaa"/>
            </a:endParaRPr>
          </a:p>
          <a:p>
            <a:pPr indent="0" lvl="0" marL="0" rtl="0" algn="ctr">
              <a:spcBef>
                <a:spcPts val="0"/>
              </a:spcBef>
              <a:spcAft>
                <a:spcPts val="0"/>
              </a:spcAft>
              <a:buClr>
                <a:schemeClr val="dk1"/>
              </a:buClr>
              <a:buSzPts val="4400"/>
              <a:buFont typeface="Calibri"/>
              <a:buNone/>
            </a:pPr>
            <a:r>
              <a:t/>
            </a:r>
            <a:endParaRPr b="1">
              <a:solidFill>
                <a:srgbClr val="9900FF"/>
              </a:solidFill>
            </a:endParaRPr>
          </a:p>
        </p:txBody>
      </p:sp>
      <p:sp>
        <p:nvSpPr>
          <p:cNvPr id="134" name="Google Shape;134;p20"/>
          <p:cNvSpPr txBox="1"/>
          <p:nvPr>
            <p:ph idx="1" type="body"/>
          </p:nvPr>
        </p:nvSpPr>
        <p:spPr>
          <a:xfrm>
            <a:off x="0" y="1600200"/>
            <a:ext cx="12189000" cy="52578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lang="en-US" sz="2000">
                <a:solidFill>
                  <a:srgbClr val="00FF00"/>
                </a:solidFill>
                <a:latin typeface="Comfortaa"/>
                <a:ea typeface="Comfortaa"/>
                <a:cs typeface="Comfortaa"/>
                <a:sym typeface="Comfortaa"/>
              </a:rPr>
              <a:t>La Constitución incorporó en 1994 el control parlamentario sobre los Decretos de Necesidad y Urgencia (DNU)</a:t>
            </a:r>
            <a:r>
              <a:rPr lang="en-US" sz="2000">
                <a:solidFill>
                  <a:srgbClr val="FFFFFF"/>
                </a:solidFill>
                <a:latin typeface="Comfortaa"/>
                <a:ea typeface="Comfortaa"/>
                <a:cs typeface="Comfortaa"/>
                <a:sym typeface="Comfortaa"/>
              </a:rPr>
              <a:t>, mediante una Comisión Bicameral. Sin embargo, hasta 2006, </a:t>
            </a:r>
            <a:r>
              <a:rPr lang="en-US" sz="2000">
                <a:solidFill>
                  <a:srgbClr val="00FF00"/>
                </a:solidFill>
                <a:latin typeface="Comfortaa"/>
                <a:ea typeface="Comfortaa"/>
                <a:cs typeface="Comfortaa"/>
                <a:sym typeface="Comfortaa"/>
              </a:rPr>
              <a:t>cuando se sancionó la Ley 26.122</a:t>
            </a:r>
            <a:r>
              <a:rPr lang="en-US" sz="2000">
                <a:solidFill>
                  <a:srgbClr val="FFFFFF"/>
                </a:solidFill>
                <a:latin typeface="Comfortaa"/>
                <a:ea typeface="Comfortaa"/>
                <a:cs typeface="Comfortaa"/>
                <a:sym typeface="Comfortaa"/>
              </a:rPr>
              <a:t>, este órgano no estuvo en funcionamiento. Durante esos años, decenas de DNU se dictaron sin control parlamentario efectivo, afectando el equilibrio de poderes.</a:t>
            </a:r>
            <a:endParaRPr sz="2000">
              <a:solidFill>
                <a:srgbClr val="FFFFFF"/>
              </a:solidFill>
              <a:latin typeface="Comfortaa"/>
              <a:ea typeface="Comfortaa"/>
              <a:cs typeface="Comfortaa"/>
              <a:sym typeface="Comfortaa"/>
            </a:endParaRPr>
          </a:p>
          <a:p>
            <a:pPr indent="-355600" lvl="0" marL="457200" rtl="0" algn="l">
              <a:lnSpc>
                <a:spcPct val="115000"/>
              </a:lnSpc>
              <a:spcBef>
                <a:spcPts val="1000"/>
              </a:spcBef>
              <a:spcAft>
                <a:spcPts val="0"/>
              </a:spcAft>
              <a:buClr>
                <a:srgbClr val="FFFFFF"/>
              </a:buClr>
              <a:buSzPts val="2000"/>
              <a:buFont typeface="Comfortaa"/>
              <a:buChar char="-"/>
            </a:pPr>
            <a:r>
              <a:rPr b="1" lang="en-US" sz="2000">
                <a:solidFill>
                  <a:srgbClr val="00FF00"/>
                </a:solidFill>
                <a:latin typeface="Comfortaa"/>
                <a:ea typeface="Comfortaa"/>
                <a:cs typeface="Comfortaa"/>
                <a:sym typeface="Comfortaa"/>
              </a:rPr>
              <a:t>el DNU 70/2023 </a:t>
            </a:r>
            <a:r>
              <a:rPr b="1" lang="en-US" sz="2000">
                <a:solidFill>
                  <a:srgbClr val="FFFFFF"/>
                </a:solidFill>
                <a:latin typeface="Comfortaa"/>
                <a:ea typeface="Comfortaa"/>
                <a:cs typeface="Comfortaa"/>
                <a:sym typeface="Comfortaa"/>
              </a:rPr>
              <a:t>fue rechazado por el Senado en 2024, pero continúa vigente porque </a:t>
            </a:r>
            <a:br>
              <a:rPr b="1" lang="en-US" sz="2000">
                <a:solidFill>
                  <a:srgbClr val="FFFFFF"/>
                </a:solidFill>
                <a:latin typeface="Comfortaa"/>
                <a:ea typeface="Comfortaa"/>
                <a:cs typeface="Comfortaa"/>
                <a:sym typeface="Comfortaa"/>
              </a:rPr>
            </a:br>
            <a:r>
              <a:rPr b="1" lang="en-US" sz="2000">
                <a:solidFill>
                  <a:srgbClr val="FFFFFF"/>
                </a:solidFill>
                <a:latin typeface="Comfortaa"/>
                <a:ea typeface="Comfortaa"/>
                <a:cs typeface="Comfortaa"/>
                <a:sym typeface="Comfortaa"/>
              </a:rPr>
              <a:t>Diputados no lo trató. Esto muestra cómo la Ley 26.122 impide que un solo rechazo lo derogue automáticamente.</a:t>
            </a:r>
            <a:endParaRPr sz="2000">
              <a:solidFill>
                <a:srgbClr val="FFFFFF"/>
              </a:solidFill>
              <a:latin typeface="Comfortaa"/>
              <a:ea typeface="Comfortaa"/>
              <a:cs typeface="Comfortaa"/>
              <a:sym typeface="Comforta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24242"/>
            </a:gs>
            <a:gs pos="100000">
              <a:srgbClr val="010101"/>
            </a:gs>
          </a:gsLst>
          <a:path path="circle">
            <a:fillToRect b="50%" l="50%" r="50%" t="50%"/>
          </a:path>
          <a:tileRect/>
        </a:gradFill>
      </p:bgPr>
    </p:bg>
    <p:spTree>
      <p:nvGrpSpPr>
        <p:cNvPr id="139" name="Shape 139"/>
        <p:cNvGrpSpPr/>
        <p:nvPr/>
      </p:nvGrpSpPr>
      <p:grpSpPr>
        <a:xfrm>
          <a:off x="0" y="0"/>
          <a:ext cx="0" cy="0"/>
          <a:chOff x="0" y="0"/>
          <a:chExt cx="0" cy="0"/>
        </a:xfrm>
      </p:grpSpPr>
      <p:sp>
        <p:nvSpPr>
          <p:cNvPr id="140" name="Google Shape;140;p21"/>
          <p:cNvSpPr txBox="1"/>
          <p:nvPr>
            <p:ph type="title"/>
          </p:nvPr>
        </p:nvSpPr>
        <p:spPr>
          <a:xfrm>
            <a:off x="0" y="274650"/>
            <a:ext cx="12189000" cy="1143000"/>
          </a:xfrm>
          <a:prstGeom prst="rect">
            <a:avLst/>
          </a:prstGeom>
          <a:noFill/>
          <a:ln>
            <a:noFill/>
          </a:ln>
        </p:spPr>
        <p:txBody>
          <a:bodyPr anchorCtr="0" anchor="ctr" bIns="45700" lIns="91425" spcFirstLastPara="1" rIns="91425" wrap="square" tIns="45700">
            <a:noAutofit/>
          </a:bodyPr>
          <a:lstStyle/>
          <a:p>
            <a:pPr indent="0" lvl="0" marL="0" rtl="0" algn="ctr">
              <a:lnSpc>
                <a:spcPct val="115000"/>
              </a:lnSpc>
              <a:spcBef>
                <a:spcPts val="1000"/>
              </a:spcBef>
              <a:spcAft>
                <a:spcPts val="0"/>
              </a:spcAft>
              <a:buClr>
                <a:schemeClr val="dk1"/>
              </a:buClr>
              <a:buSzPts val="1100"/>
              <a:buFont typeface="Arial"/>
              <a:buNone/>
            </a:pPr>
            <a:r>
              <a:rPr b="1" lang="en-US" sz="3000">
                <a:solidFill>
                  <a:srgbClr val="9900FF"/>
                </a:solidFill>
                <a:latin typeface="Comfortaa"/>
                <a:ea typeface="Comfortaa"/>
                <a:cs typeface="Comfortaa"/>
                <a:sym typeface="Comfortaa"/>
              </a:rPr>
              <a:t>“Consejo Económico y Social”</a:t>
            </a:r>
            <a:endParaRPr b="1" sz="3000">
              <a:solidFill>
                <a:srgbClr val="9900FF"/>
              </a:solidFill>
              <a:latin typeface="Comfortaa"/>
              <a:ea typeface="Comfortaa"/>
              <a:cs typeface="Comfortaa"/>
              <a:sym typeface="Comfortaa"/>
            </a:endParaRPr>
          </a:p>
          <a:p>
            <a:pPr indent="0" lvl="0" marL="0" rtl="0" algn="ctr">
              <a:spcBef>
                <a:spcPts val="0"/>
              </a:spcBef>
              <a:spcAft>
                <a:spcPts val="0"/>
              </a:spcAft>
              <a:buClr>
                <a:schemeClr val="dk1"/>
              </a:buClr>
              <a:buSzPts val="4400"/>
              <a:buFont typeface="Calibri"/>
              <a:buNone/>
            </a:pPr>
            <a:r>
              <a:t/>
            </a:r>
            <a:endParaRPr b="1">
              <a:solidFill>
                <a:srgbClr val="9900FF"/>
              </a:solidFill>
            </a:endParaRPr>
          </a:p>
        </p:txBody>
      </p:sp>
      <p:sp>
        <p:nvSpPr>
          <p:cNvPr id="141" name="Google Shape;141;p21"/>
          <p:cNvSpPr txBox="1"/>
          <p:nvPr>
            <p:ph idx="1" type="body"/>
          </p:nvPr>
        </p:nvSpPr>
        <p:spPr>
          <a:xfrm>
            <a:off x="0" y="1600200"/>
            <a:ext cx="12189000" cy="52578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lang="en-US" sz="2000">
                <a:solidFill>
                  <a:srgbClr val="FFFFFF"/>
                </a:solidFill>
                <a:latin typeface="Comfortaa"/>
                <a:ea typeface="Comfortaa"/>
                <a:cs typeface="Comfortaa"/>
                <a:sym typeface="Comfortaa"/>
              </a:rPr>
              <a:t>La reforma de 1994 contemplaba la creación de un Consejo Económico y Social como órgano consultivo, pensado para integrar al diálogo institucional a sindicatos, empresarios y organizaciones sociales. Pese a diversos intentos legislativos, nunca se consolidó como un espacio permanente y efectivo de concertación.</a:t>
            </a:r>
            <a:endParaRPr sz="2000">
              <a:solidFill>
                <a:srgbClr val="FFFFFF"/>
              </a:solidFill>
              <a:latin typeface="Comfortaa"/>
              <a:ea typeface="Comfortaa"/>
              <a:cs typeface="Comfortaa"/>
              <a:sym typeface="Comfortaa"/>
            </a:endParaRPr>
          </a:p>
          <a:p>
            <a:pPr indent="-355600" lvl="0" marL="457200" rtl="0" algn="l">
              <a:lnSpc>
                <a:spcPct val="115000"/>
              </a:lnSpc>
              <a:spcBef>
                <a:spcPts val="1000"/>
              </a:spcBef>
              <a:spcAft>
                <a:spcPts val="0"/>
              </a:spcAft>
              <a:buClr>
                <a:srgbClr val="FFFFFF"/>
              </a:buClr>
              <a:buSzPts val="2000"/>
              <a:buFont typeface="Comfortaa"/>
              <a:buChar char="-"/>
            </a:pPr>
            <a:r>
              <a:rPr b="1" lang="en-US" sz="2000">
                <a:solidFill>
                  <a:srgbClr val="00FF00"/>
                </a:solidFill>
                <a:latin typeface="Comfortaa"/>
                <a:ea typeface="Comfortaa"/>
                <a:cs typeface="Comfortaa"/>
                <a:sym typeface="Comfortaa"/>
              </a:rPr>
              <a:t>En 2021 se creó por DNU 124/2021 </a:t>
            </a:r>
            <a:r>
              <a:rPr lang="en-US" sz="2000">
                <a:solidFill>
                  <a:srgbClr val="FFFFFF"/>
                </a:solidFill>
                <a:latin typeface="Comfortaa"/>
                <a:ea typeface="Comfortaa"/>
                <a:cs typeface="Comfortaa"/>
                <a:sym typeface="Comfortaa"/>
              </a:rPr>
              <a:t>un Consejo Económico y Social en la órbita de la Secretaría de Asuntos Estratégicos, aunque sin rango constitucional ni permanencia institucional. </a:t>
            </a:r>
            <a:br>
              <a:rPr lang="en-US" sz="2000">
                <a:solidFill>
                  <a:srgbClr val="FFFFFF"/>
                </a:solidFill>
                <a:latin typeface="Comfortaa"/>
                <a:ea typeface="Comfortaa"/>
                <a:cs typeface="Comfortaa"/>
                <a:sym typeface="Comfortaa"/>
              </a:rPr>
            </a:br>
            <a:r>
              <a:rPr lang="en-US" sz="2000">
                <a:solidFill>
                  <a:srgbClr val="FFFFFF"/>
                </a:solidFill>
                <a:latin typeface="Comfortaa"/>
                <a:ea typeface="Comfortaa"/>
                <a:cs typeface="Comfortaa"/>
                <a:sym typeface="Comfortaa"/>
              </a:rPr>
              <a:t>A diferencia de España, que cuenta con un órgano consultivo establecido por ley.</a:t>
            </a:r>
            <a:endParaRPr sz="2000">
              <a:solidFill>
                <a:srgbClr val="FFFFFF"/>
              </a:solidFill>
              <a:latin typeface="Comfortaa"/>
              <a:ea typeface="Comfortaa"/>
              <a:cs typeface="Comfortaa"/>
              <a:sym typeface="Comforta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24242"/>
            </a:gs>
            <a:gs pos="100000">
              <a:srgbClr val="010101"/>
            </a:gs>
          </a:gsLst>
          <a:path path="circle">
            <a:fillToRect b="50%" l="50%" r="50%" t="50%"/>
          </a:path>
          <a:tileRect/>
        </a:gradFill>
      </p:bgPr>
    </p:bg>
    <p:spTree>
      <p:nvGrpSpPr>
        <p:cNvPr id="146" name="Shape 146"/>
        <p:cNvGrpSpPr/>
        <p:nvPr/>
      </p:nvGrpSpPr>
      <p:grpSpPr>
        <a:xfrm>
          <a:off x="0" y="0"/>
          <a:ext cx="0" cy="0"/>
          <a:chOff x="0" y="0"/>
          <a:chExt cx="0" cy="0"/>
        </a:xfrm>
      </p:grpSpPr>
      <p:sp>
        <p:nvSpPr>
          <p:cNvPr id="147" name="Google Shape;147;p22"/>
          <p:cNvSpPr txBox="1"/>
          <p:nvPr>
            <p:ph type="title"/>
          </p:nvPr>
        </p:nvSpPr>
        <p:spPr>
          <a:xfrm>
            <a:off x="0" y="274650"/>
            <a:ext cx="12189000" cy="1143000"/>
          </a:xfrm>
          <a:prstGeom prst="rect">
            <a:avLst/>
          </a:prstGeom>
          <a:noFill/>
          <a:ln>
            <a:noFill/>
          </a:ln>
        </p:spPr>
        <p:txBody>
          <a:bodyPr anchorCtr="0" anchor="ctr" bIns="45700" lIns="91425" spcFirstLastPara="1" rIns="91425" wrap="square" tIns="45700">
            <a:noAutofit/>
          </a:bodyPr>
          <a:lstStyle/>
          <a:p>
            <a:pPr indent="0" lvl="0" marL="0" rtl="0" algn="ctr">
              <a:lnSpc>
                <a:spcPct val="115000"/>
              </a:lnSpc>
              <a:spcBef>
                <a:spcPts val="1000"/>
              </a:spcBef>
              <a:spcAft>
                <a:spcPts val="0"/>
              </a:spcAft>
              <a:buClr>
                <a:schemeClr val="dk1"/>
              </a:buClr>
              <a:buSzPts val="1100"/>
              <a:buFont typeface="Arial"/>
              <a:buNone/>
            </a:pPr>
            <a:r>
              <a:rPr b="1" lang="en-US" sz="3000">
                <a:solidFill>
                  <a:srgbClr val="9900FF"/>
                </a:solidFill>
                <a:latin typeface="Comfortaa"/>
                <a:ea typeface="Comfortaa"/>
                <a:cs typeface="Comfortaa"/>
                <a:sym typeface="Comfortaa"/>
              </a:rPr>
              <a:t>“Consejo de la Magistratura”</a:t>
            </a:r>
            <a:endParaRPr b="1" sz="3000">
              <a:solidFill>
                <a:srgbClr val="9900FF"/>
              </a:solidFill>
              <a:latin typeface="Comfortaa"/>
              <a:ea typeface="Comfortaa"/>
              <a:cs typeface="Comfortaa"/>
              <a:sym typeface="Comfortaa"/>
            </a:endParaRPr>
          </a:p>
          <a:p>
            <a:pPr indent="0" lvl="0" marL="0" rtl="0" algn="ctr">
              <a:spcBef>
                <a:spcPts val="0"/>
              </a:spcBef>
              <a:spcAft>
                <a:spcPts val="0"/>
              </a:spcAft>
              <a:buClr>
                <a:schemeClr val="dk1"/>
              </a:buClr>
              <a:buSzPts val="4400"/>
              <a:buFont typeface="Calibri"/>
              <a:buNone/>
            </a:pPr>
            <a:r>
              <a:t/>
            </a:r>
            <a:endParaRPr b="1">
              <a:solidFill>
                <a:srgbClr val="9900FF"/>
              </a:solidFill>
            </a:endParaRPr>
          </a:p>
        </p:txBody>
      </p:sp>
      <p:sp>
        <p:nvSpPr>
          <p:cNvPr id="148" name="Google Shape;148;p22"/>
          <p:cNvSpPr txBox="1"/>
          <p:nvPr>
            <p:ph idx="1" type="body"/>
          </p:nvPr>
        </p:nvSpPr>
        <p:spPr>
          <a:xfrm>
            <a:off x="0" y="1600200"/>
            <a:ext cx="12189000" cy="52578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b="1" lang="en-US" sz="2000">
                <a:solidFill>
                  <a:srgbClr val="00FF00"/>
                </a:solidFill>
                <a:latin typeface="Comfortaa"/>
                <a:ea typeface="Comfortaa"/>
                <a:cs typeface="Comfortaa"/>
                <a:sym typeface="Comfortaa"/>
              </a:rPr>
              <a:t>Si bien el Consejo de la Magistratura se creó (Ley 24.937, reformada por Ley 26.080 y otras)</a:t>
            </a:r>
            <a:r>
              <a:rPr b="1" lang="en-US" sz="2000">
                <a:solidFill>
                  <a:srgbClr val="FFFFFF"/>
                </a:solidFill>
                <a:latin typeface="Comfortaa"/>
                <a:ea typeface="Comfortaa"/>
                <a:cs typeface="Comfortaa"/>
                <a:sym typeface="Comfortaa"/>
              </a:rPr>
              <a:t>, ha estado en permanente disputa política y judicial. La falta de un consenso estable sobre su composición y funciones ha generado reformas sucesivas y conflictos con la Corte Suprema.</a:t>
            </a:r>
            <a:endParaRPr b="1" sz="2000">
              <a:solidFill>
                <a:srgbClr val="FFFFFF"/>
              </a:solidFill>
              <a:latin typeface="Comfortaa"/>
              <a:ea typeface="Comfortaa"/>
              <a:cs typeface="Comfortaa"/>
              <a:sym typeface="Comfortaa"/>
            </a:endParaRPr>
          </a:p>
          <a:p>
            <a:pPr indent="-355600" lvl="0" marL="457200" rtl="0" algn="l">
              <a:lnSpc>
                <a:spcPct val="115000"/>
              </a:lnSpc>
              <a:spcBef>
                <a:spcPts val="1000"/>
              </a:spcBef>
              <a:spcAft>
                <a:spcPts val="0"/>
              </a:spcAft>
              <a:buClr>
                <a:srgbClr val="FFFFFF"/>
              </a:buClr>
              <a:buSzPts val="2000"/>
              <a:buFont typeface="Comfortaa"/>
              <a:buChar char="-"/>
            </a:pPr>
            <a:r>
              <a:rPr b="1" lang="en-US" sz="2000">
                <a:solidFill>
                  <a:srgbClr val="FFFFFF"/>
                </a:solidFill>
                <a:latin typeface="Comfortaa"/>
                <a:ea typeface="Comfortaa"/>
                <a:cs typeface="Comfortaa"/>
                <a:sym typeface="Comfortaa"/>
              </a:rPr>
              <a:t>En 2021 la Corte declaró inconstitucional la reducción de miembros de 2006, restableciendo la integración de 20 consejeros con la presidencia del titular de la Corte. Este cambio refleja cómo la falta de consensos legislativos lleva a que el Poder Judicial fije transitoriamente el esquema.</a:t>
            </a:r>
            <a:endParaRPr b="1" sz="2000">
              <a:solidFill>
                <a:srgbClr val="00FF00"/>
              </a:solidFill>
              <a:latin typeface="Comfortaa"/>
              <a:ea typeface="Comfortaa"/>
              <a:cs typeface="Comfortaa"/>
              <a:sym typeface="Comfortaa"/>
            </a:endParaRPr>
          </a:p>
          <a:p>
            <a:pPr indent="0" lvl="0" marL="0" rtl="0" algn="l">
              <a:lnSpc>
                <a:spcPct val="115000"/>
              </a:lnSpc>
              <a:spcBef>
                <a:spcPts val="0"/>
              </a:spcBef>
              <a:spcAft>
                <a:spcPts val="0"/>
              </a:spcAft>
              <a:buNone/>
            </a:pPr>
            <a:r>
              <a:t/>
            </a:r>
            <a:endParaRPr b="1" sz="2000">
              <a:solidFill>
                <a:srgbClr val="00FF00"/>
              </a:solidFill>
              <a:latin typeface="Comfortaa"/>
              <a:ea typeface="Comfortaa"/>
              <a:cs typeface="Comfortaa"/>
              <a:sym typeface="Comfortaa"/>
            </a:endParaRPr>
          </a:p>
          <a:p>
            <a:pPr indent="0" lvl="0" marL="0" rtl="0" algn="l">
              <a:lnSpc>
                <a:spcPct val="115000"/>
              </a:lnSpc>
              <a:spcBef>
                <a:spcPts val="1000"/>
              </a:spcBef>
              <a:spcAft>
                <a:spcPts val="1000"/>
              </a:spcAft>
              <a:buClr>
                <a:schemeClr val="dk1"/>
              </a:buClr>
              <a:buSzPts val="1100"/>
              <a:buFont typeface="Arial"/>
              <a:buNone/>
            </a:pPr>
            <a:r>
              <a:t/>
            </a:r>
            <a:endParaRPr b="1" sz="2000">
              <a:latin typeface="Comfortaa"/>
              <a:ea typeface="Comfortaa"/>
              <a:cs typeface="Comfortaa"/>
              <a:sym typeface="Comforta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24242"/>
            </a:gs>
            <a:gs pos="100000">
              <a:srgbClr val="010101"/>
            </a:gs>
          </a:gsLst>
          <a:path path="circle">
            <a:fillToRect b="50%" l="50%" r="50%" t="50%"/>
          </a:path>
          <a:tileRect/>
        </a:gradFill>
      </p:bgPr>
    </p:bg>
    <p:spTree>
      <p:nvGrpSpPr>
        <p:cNvPr id="153" name="Shape 153"/>
        <p:cNvGrpSpPr/>
        <p:nvPr/>
      </p:nvGrpSpPr>
      <p:grpSpPr>
        <a:xfrm>
          <a:off x="0" y="0"/>
          <a:ext cx="0" cy="0"/>
          <a:chOff x="0" y="0"/>
          <a:chExt cx="0" cy="0"/>
        </a:xfrm>
      </p:grpSpPr>
      <p:sp>
        <p:nvSpPr>
          <p:cNvPr id="154" name="Google Shape;154;p23"/>
          <p:cNvSpPr txBox="1"/>
          <p:nvPr>
            <p:ph type="title"/>
          </p:nvPr>
        </p:nvSpPr>
        <p:spPr>
          <a:xfrm>
            <a:off x="0" y="274650"/>
            <a:ext cx="121890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15000"/>
              </a:lnSpc>
              <a:spcBef>
                <a:spcPts val="1000"/>
              </a:spcBef>
              <a:spcAft>
                <a:spcPts val="0"/>
              </a:spcAft>
              <a:buClr>
                <a:schemeClr val="dk1"/>
              </a:buClr>
              <a:buSzPct val="36666"/>
              <a:buFont typeface="Arial"/>
              <a:buNone/>
            </a:pPr>
            <a:r>
              <a:rPr b="1" lang="en-US" sz="3000">
                <a:solidFill>
                  <a:srgbClr val="9900FF"/>
                </a:solidFill>
                <a:latin typeface="Comfortaa"/>
                <a:ea typeface="Comfortaa"/>
                <a:cs typeface="Comfortaa"/>
                <a:sym typeface="Comfortaa"/>
              </a:rPr>
              <a:t>“Conclusión”</a:t>
            </a:r>
            <a:endParaRPr b="1" sz="3000">
              <a:solidFill>
                <a:srgbClr val="9900FF"/>
              </a:solidFill>
              <a:latin typeface="Comfortaa"/>
              <a:ea typeface="Comfortaa"/>
              <a:cs typeface="Comfortaa"/>
              <a:sym typeface="Comfortaa"/>
            </a:endParaRPr>
          </a:p>
          <a:p>
            <a:pPr indent="0" lvl="0" marL="0" rtl="0" algn="ctr">
              <a:spcBef>
                <a:spcPts val="0"/>
              </a:spcBef>
              <a:spcAft>
                <a:spcPts val="0"/>
              </a:spcAft>
              <a:buClr>
                <a:schemeClr val="dk1"/>
              </a:buClr>
              <a:buSzPct val="100000"/>
              <a:buFont typeface="Calibri"/>
              <a:buNone/>
            </a:pPr>
            <a:r>
              <a:t/>
            </a:r>
            <a:endParaRPr b="1">
              <a:solidFill>
                <a:srgbClr val="9900FF"/>
              </a:solidFill>
            </a:endParaRPr>
          </a:p>
        </p:txBody>
      </p:sp>
      <p:sp>
        <p:nvSpPr>
          <p:cNvPr id="155" name="Google Shape;155;p23"/>
          <p:cNvSpPr txBox="1"/>
          <p:nvPr>
            <p:ph idx="1" type="body"/>
          </p:nvPr>
        </p:nvSpPr>
        <p:spPr>
          <a:xfrm>
            <a:off x="0" y="1600200"/>
            <a:ext cx="12189000" cy="52578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1000"/>
              </a:spcAft>
              <a:buClr>
                <a:schemeClr val="dk1"/>
              </a:buClr>
              <a:buSzPts val="1100"/>
              <a:buFont typeface="Arial"/>
              <a:buNone/>
            </a:pPr>
            <a:r>
              <a:rPr b="1" lang="en-US" sz="2000">
                <a:solidFill>
                  <a:srgbClr val="FFFFFF"/>
                </a:solidFill>
                <a:latin typeface="Comfortaa"/>
                <a:ea typeface="Comfortaa"/>
                <a:cs typeface="Comfortaa"/>
                <a:sym typeface="Comfortaa"/>
              </a:rPr>
              <a:t>Estas reformas no implementadas nos recuerdan que la Constitución es un marco normativo vivo que requiere de leyes y consensos para convertirse en realidad. El juicio por jurados, la ley de coparticipación y el fortalecimiento de órganos de control son deudas que impactan en la calidad de la democracia argentina. Reflexionar sobre estas deudas nos permite entender cómo los textos constitucionales pueden quedar incompletos sin voluntad política para ejecutarlos. </a:t>
            </a:r>
            <a:endParaRPr b="1" sz="2000">
              <a:latin typeface="Comfortaa"/>
              <a:ea typeface="Comfortaa"/>
              <a:cs typeface="Comfortaa"/>
              <a:sym typeface="Comforta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24242"/>
            </a:gs>
            <a:gs pos="100000">
              <a:srgbClr val="010101"/>
            </a:gs>
          </a:gsLst>
          <a:path path="circle">
            <a:fillToRect b="50%" l="50%" r="50%" t="50%"/>
          </a:path>
          <a:tileRect/>
        </a:gradFill>
      </p:bgPr>
    </p:bg>
    <p:spTree>
      <p:nvGrpSpPr>
        <p:cNvPr id="160" name="Shape 160"/>
        <p:cNvGrpSpPr/>
        <p:nvPr/>
      </p:nvGrpSpPr>
      <p:grpSpPr>
        <a:xfrm>
          <a:off x="0" y="0"/>
          <a:ext cx="0" cy="0"/>
          <a:chOff x="0" y="0"/>
          <a:chExt cx="0" cy="0"/>
        </a:xfrm>
      </p:grpSpPr>
      <p:sp>
        <p:nvSpPr>
          <p:cNvPr id="161" name="Google Shape;161;p24"/>
          <p:cNvSpPr txBox="1"/>
          <p:nvPr>
            <p:ph type="title"/>
          </p:nvPr>
        </p:nvSpPr>
        <p:spPr>
          <a:xfrm>
            <a:off x="0" y="274650"/>
            <a:ext cx="121890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solidFill>
                  <a:srgbClr val="9900FF"/>
                </a:solidFill>
                <a:latin typeface="Comfortaa"/>
                <a:ea typeface="Comfortaa"/>
                <a:cs typeface="Comfortaa"/>
                <a:sym typeface="Comfortaa"/>
              </a:rPr>
              <a:t>“</a:t>
            </a:r>
            <a:r>
              <a:rPr lang="en-US" sz="4400">
                <a:solidFill>
                  <a:srgbClr val="9900FF"/>
                </a:solidFill>
                <a:latin typeface="Comfortaa"/>
                <a:ea typeface="Comfortaa"/>
                <a:cs typeface="Comfortaa"/>
                <a:sym typeface="Comfortaa"/>
              </a:rPr>
              <a:t>Bibliografía</a:t>
            </a:r>
            <a:r>
              <a:rPr lang="en-US">
                <a:solidFill>
                  <a:srgbClr val="9900FF"/>
                </a:solidFill>
                <a:latin typeface="Comfortaa"/>
                <a:ea typeface="Comfortaa"/>
                <a:cs typeface="Comfortaa"/>
                <a:sym typeface="Comfortaa"/>
              </a:rPr>
              <a:t>”</a:t>
            </a:r>
            <a:endParaRPr>
              <a:solidFill>
                <a:srgbClr val="9900FF"/>
              </a:solidFill>
              <a:latin typeface="Comfortaa"/>
              <a:ea typeface="Comfortaa"/>
              <a:cs typeface="Comfortaa"/>
              <a:sym typeface="Comfortaa"/>
            </a:endParaRPr>
          </a:p>
        </p:txBody>
      </p:sp>
      <p:sp>
        <p:nvSpPr>
          <p:cNvPr id="162" name="Google Shape;162;p24"/>
          <p:cNvSpPr txBox="1"/>
          <p:nvPr>
            <p:ph idx="1" type="body"/>
          </p:nvPr>
        </p:nvSpPr>
        <p:spPr>
          <a:xfrm>
            <a:off x="0" y="1600200"/>
            <a:ext cx="12189000" cy="5257800"/>
          </a:xfrm>
          <a:prstGeom prst="rect">
            <a:avLst/>
          </a:prstGeom>
          <a:noFill/>
          <a:ln>
            <a:noFill/>
          </a:ln>
        </p:spPr>
        <p:txBody>
          <a:bodyPr anchorCtr="0" anchor="t" bIns="45700" lIns="91425" spcFirstLastPara="1" rIns="91425" wrap="square" tIns="45700">
            <a:normAutofit/>
          </a:bodyPr>
          <a:lstStyle/>
          <a:p>
            <a:pPr indent="-355600" lvl="0" marL="342900" rtl="0" algn="l">
              <a:spcBef>
                <a:spcPts val="0"/>
              </a:spcBef>
              <a:spcAft>
                <a:spcPts val="0"/>
              </a:spcAft>
              <a:buClr>
                <a:srgbClr val="FF9900"/>
              </a:buClr>
              <a:buSzPts val="2000"/>
              <a:buFont typeface="Comfortaa"/>
              <a:buChar char="•"/>
            </a:pPr>
            <a:r>
              <a:rPr b="1" lang="en-US" sz="2000">
                <a:solidFill>
                  <a:srgbClr val="FF9900"/>
                </a:solidFill>
                <a:latin typeface="Comfortaa"/>
                <a:ea typeface="Comfortaa"/>
                <a:cs typeface="Comfortaa"/>
                <a:sym typeface="Comfortaa"/>
              </a:rPr>
              <a:t>BCN — Dossier Constitución 1994 y notas sobre juicio por jurados y coparticipación.</a:t>
            </a:r>
            <a:endParaRPr b="1" sz="2000">
              <a:solidFill>
                <a:srgbClr val="FF9900"/>
              </a:solidFill>
              <a:latin typeface="Comfortaa"/>
              <a:ea typeface="Comfortaa"/>
              <a:cs typeface="Comfortaa"/>
              <a:sym typeface="Comfortaa"/>
            </a:endParaRPr>
          </a:p>
          <a:p>
            <a:pPr indent="0" lvl="0" marL="0" rtl="0" algn="l">
              <a:spcBef>
                <a:spcPts val="0"/>
              </a:spcBef>
              <a:spcAft>
                <a:spcPts val="0"/>
              </a:spcAft>
              <a:buNone/>
            </a:pPr>
            <a:r>
              <a:t/>
            </a:r>
            <a:endParaRPr b="1" sz="2000">
              <a:solidFill>
                <a:srgbClr val="FF9900"/>
              </a:solidFill>
              <a:latin typeface="Comfortaa"/>
              <a:ea typeface="Comfortaa"/>
              <a:cs typeface="Comfortaa"/>
              <a:sym typeface="Comfortaa"/>
            </a:endParaRPr>
          </a:p>
          <a:p>
            <a:pPr indent="-355600" lvl="0" marL="342900" rtl="0" algn="l">
              <a:spcBef>
                <a:spcPts val="360"/>
              </a:spcBef>
              <a:spcAft>
                <a:spcPts val="0"/>
              </a:spcAft>
              <a:buClr>
                <a:srgbClr val="FF9900"/>
              </a:buClr>
              <a:buSzPts val="2000"/>
              <a:buFont typeface="Comfortaa"/>
              <a:buChar char="•"/>
            </a:pPr>
            <a:r>
              <a:rPr b="1" lang="en-US" sz="2000">
                <a:solidFill>
                  <a:srgbClr val="FF9900"/>
                </a:solidFill>
                <a:latin typeface="Comfortaa"/>
                <a:ea typeface="Comfortaa"/>
                <a:cs typeface="Comfortaa"/>
                <a:sym typeface="Comfortaa"/>
              </a:rPr>
              <a:t>INECIP / Pensamiento Penal — análisis sobre juicio por jurados y experiencias provinciales.</a:t>
            </a:r>
            <a:endParaRPr b="1" sz="2000">
              <a:solidFill>
                <a:srgbClr val="FF9900"/>
              </a:solidFill>
              <a:latin typeface="Comfortaa"/>
              <a:ea typeface="Comfortaa"/>
              <a:cs typeface="Comfortaa"/>
              <a:sym typeface="Comfortaa"/>
            </a:endParaRPr>
          </a:p>
          <a:p>
            <a:pPr indent="0" lvl="0" marL="0" rtl="0" algn="l">
              <a:spcBef>
                <a:spcPts val="360"/>
              </a:spcBef>
              <a:spcAft>
                <a:spcPts val="0"/>
              </a:spcAft>
              <a:buNone/>
            </a:pPr>
            <a:r>
              <a:t/>
            </a:r>
            <a:endParaRPr b="1" sz="2000">
              <a:solidFill>
                <a:srgbClr val="FF9900"/>
              </a:solidFill>
              <a:latin typeface="Comfortaa"/>
              <a:ea typeface="Comfortaa"/>
              <a:cs typeface="Comfortaa"/>
              <a:sym typeface="Comfortaa"/>
            </a:endParaRPr>
          </a:p>
          <a:p>
            <a:pPr indent="-355600" lvl="0" marL="342900" rtl="0" algn="l">
              <a:spcBef>
                <a:spcPts val="360"/>
              </a:spcBef>
              <a:spcAft>
                <a:spcPts val="0"/>
              </a:spcAft>
              <a:buClr>
                <a:srgbClr val="FF9900"/>
              </a:buClr>
              <a:buSzPts val="2000"/>
              <a:buFont typeface="Comfortaa"/>
              <a:buChar char="•"/>
            </a:pPr>
            <a:r>
              <a:rPr b="1" lang="en-US" sz="2000">
                <a:solidFill>
                  <a:srgbClr val="FF9900"/>
                </a:solidFill>
                <a:latin typeface="Comfortaa"/>
                <a:ea typeface="Comfortaa"/>
                <a:cs typeface="Comfortaa"/>
                <a:sym typeface="Comfortaa"/>
              </a:rPr>
              <a:t>CIPPEC — estudio sobre control parlamentario de DNU.</a:t>
            </a:r>
            <a:endParaRPr b="1" sz="2000">
              <a:solidFill>
                <a:srgbClr val="FF9900"/>
              </a:solidFill>
              <a:latin typeface="Comfortaa"/>
              <a:ea typeface="Comfortaa"/>
              <a:cs typeface="Comfortaa"/>
              <a:sym typeface="Comfortaa"/>
            </a:endParaRPr>
          </a:p>
          <a:p>
            <a:pPr indent="0" lvl="0" marL="0" rtl="0" algn="l">
              <a:spcBef>
                <a:spcPts val="360"/>
              </a:spcBef>
              <a:spcAft>
                <a:spcPts val="0"/>
              </a:spcAft>
              <a:buNone/>
            </a:pPr>
            <a:r>
              <a:t/>
            </a:r>
            <a:endParaRPr b="1" sz="2000">
              <a:solidFill>
                <a:srgbClr val="FF9900"/>
              </a:solidFill>
              <a:latin typeface="Comfortaa"/>
              <a:ea typeface="Comfortaa"/>
              <a:cs typeface="Comfortaa"/>
              <a:sym typeface="Comfortaa"/>
            </a:endParaRPr>
          </a:p>
          <a:p>
            <a:pPr indent="-355600" lvl="0" marL="342900" rtl="0" algn="l">
              <a:spcBef>
                <a:spcPts val="360"/>
              </a:spcBef>
              <a:spcAft>
                <a:spcPts val="0"/>
              </a:spcAft>
              <a:buClr>
                <a:srgbClr val="FF9900"/>
              </a:buClr>
              <a:buSzPts val="2000"/>
              <a:buFont typeface="Comfortaa"/>
              <a:buChar char="•"/>
            </a:pPr>
            <a:r>
              <a:rPr b="1" lang="en-US" sz="2000">
                <a:solidFill>
                  <a:srgbClr val="FF9900"/>
                </a:solidFill>
                <a:latin typeface="Comfortaa"/>
                <a:ea typeface="Comfortaa"/>
                <a:cs typeface="Comfortaa"/>
                <a:sym typeface="Comfortaa"/>
              </a:rPr>
              <a:t>Leyes y textos: Ley 24.309; Ley 24.747; Ley 24.937; Ley 26.122; textos constitucionales (arts. 24, 75, 118).</a:t>
            </a:r>
            <a:endParaRPr b="1" sz="2000">
              <a:solidFill>
                <a:srgbClr val="FF9900"/>
              </a:solidFill>
              <a:latin typeface="Comfortaa"/>
              <a:ea typeface="Comfortaa"/>
              <a:cs typeface="Comfortaa"/>
              <a:sym typeface="Comfortaa"/>
            </a:endParaRPr>
          </a:p>
          <a:p>
            <a:pPr indent="0" lvl="0" marL="0" rtl="0" algn="l">
              <a:spcBef>
                <a:spcPts val="360"/>
              </a:spcBef>
              <a:spcAft>
                <a:spcPts val="0"/>
              </a:spcAft>
              <a:buNone/>
            </a:pPr>
            <a:r>
              <a:t/>
            </a:r>
            <a:endParaRPr b="1" sz="2000">
              <a:solidFill>
                <a:srgbClr val="FF9900"/>
              </a:solidFill>
              <a:latin typeface="Comfortaa"/>
              <a:ea typeface="Comfortaa"/>
              <a:cs typeface="Comfortaa"/>
              <a:sym typeface="Comfortaa"/>
            </a:endParaRPr>
          </a:p>
          <a:p>
            <a:pPr indent="-355600" lvl="0" marL="342900" rtl="0" algn="l">
              <a:spcBef>
                <a:spcPts val="360"/>
              </a:spcBef>
              <a:spcAft>
                <a:spcPts val="0"/>
              </a:spcAft>
              <a:buClr>
                <a:srgbClr val="FF9900"/>
              </a:buClr>
              <a:buSzPts val="2000"/>
              <a:buFont typeface="Comfortaa"/>
              <a:buChar char="•"/>
            </a:pPr>
            <a:r>
              <a:rPr b="1" lang="en-US" sz="2000">
                <a:solidFill>
                  <a:srgbClr val="FF9900"/>
                </a:solidFill>
                <a:latin typeface="Comfortaa"/>
                <a:ea typeface="Comfortaa"/>
                <a:cs typeface="Comfortaa"/>
                <a:sym typeface="Comfortaa"/>
              </a:rPr>
              <a:t>Benente, M. 'Las deudas y promesas incumplidas de la reforma constitucional de 1994' (referencia crítica).</a:t>
            </a:r>
            <a:endParaRPr b="1" sz="2000">
              <a:solidFill>
                <a:srgbClr val="FF9900"/>
              </a:solidFill>
              <a:latin typeface="Comfortaa"/>
              <a:ea typeface="Comfortaa"/>
              <a:cs typeface="Comfortaa"/>
              <a:sym typeface="Comforta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